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4274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Ahmet. Start with a short greeting. Explain that this is a Reproducible Research final project, so the presentation focuses less on proving that the model is perfect and more on showing whether the R project could be reproduced in Python. Mention the four team members and tell the audience that the presentation will cover the original project, the dataset, the translation process, code structure, results, GitHub workflow, and local reproducibility. Aim for about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Ahmet. Explain that the grading criteria shaped the whole project. The main goal was not simply to get the highest possible model accuracy. The main goal was to show the full process: taking an existing R project, reproducing it in Python, documenting what was clear or unclear, and making our own version reproducible. Emphasize that we therefore created a repository, a README, requirements file, and a cleaner modular structure. Aim for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Ahmet. Explain the core question of the project. We did not create a completely new research question. We reproduced the logic of an existing R project and translated it into Python. The important part was to preserve the same workflow: data inspection, cleaning, visualizations, encoding, train-test split, decision tree, random forest, and final comparison. Mention that this also helped us see which parts of the R workflow were easy to translate and which parts required adaptation. Aim for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Kuo. Present the dataset briefly. We have 45,000 records and 14 columns. The variables include personal characteristics, loan-related information, and credit history variables. The target variable is loan_status. In the first run, there were no missing values, which is useful, but we still had to inspect outliers because age and income contained extreme values. Mention that loan_status equals 1 for about 22.2 percent of observations, so the dataset is imbalanced. Aim for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Kuo. Walk through the reproduction process in stages. First we understood the R workflow. Then we translated the data loading, summaries, and visualizations. After that we adapted the cleaning rules and categorical encoding because Python machine learning models need numeric features. Then we rebuilt two models: Decision Tree and Random Forest. Finally, we refactored the direct translation into a modular Python project and made it runnable through main.py. Aim for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Kuo. This is the short code presentation slide. Explain that loan.py was the initial direct translation, but the final version is organized around main.py and the src folder. Walk through the modules: data_loader reads the CSV; explorer prints summaries; cleaner handles outliers; visualizer saves plots; preprocessor encodes variables and splits the data; models contains Decision Tree and Random Forest. This structure makes the project cleaner, more reusable, and easier for the teacher to run from the lab computer after pulling from GitHub. Aim for about 2 minutes.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Kuo. Explain how someone else can reproduce the project. They clone the repository, create a virtual environment, install the requirements, and run python main.py. This is important because the teacher said the project will be pulled from GitHub and run from a lab computer. The requirements file helps reduce dependency problems, especially when different team members use different systems. Aim for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Nijat. Explain the numeric exploratory plots. The histograms show that most applicants are younger adults, with age concentrated in the 20s and 30s. Income and loan amount are right-skewed, meaning a small number of observations have much larger values. Loan percent income is also concentrated at lower levels but has a tail. The age by education chart shows similar age patterns across education groups, with most observations in younger age ranges. Aim for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Nijat. Present the two categorical visualizations. The loan intent chart shows the distribution of reasons for applying for a loan. We do not treat this as a causal result; it is descriptive. The income by home ownership and gender chart shows differences in average income by ownership type. This helped us understand the structure of the data before modeling and identify variables that may be useful predictors. Aim for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Nijat. Explain that the project was not just copying syntax from R to Python. Some steps had to be adapted to the Python machine learning ecosystem. Scikit-learn requires numeric inputs, so categorical variables had to be encoded. We also used a 75/25 train-test split with a fixed random seed to make the results reproducible. For Random Forest, rows with missing values were dropped before training, similar to the R na.omit approach. Aim for about 2 minutes.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Yuceltan. Present the decision tree model. The model is easy to interpret because it shows a visible tree structure. In our result, the first split is based on previous_loan_defaults_on_file, which means previous loan default history is very informative for classification. The Decision Tree achieved 90.77 percent accuracy on the test set. Also mention that interpretability is the strength of this model, but it may be less powerful than an ensemble method. Aim for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Yuceltan. Explain the Random Forest model as an ensemble of many decision trees. It usually improves predictive performance by combining many trees. In our project, the Random Forest test accuracy was 92.59 percent, which was higher than the Decision Tree. The feature importance plot shows that previous loan defaults, loan percent income, interest rate, income, and loan amount were important variables. Also be honest that the training accuracy was 1.0, which can indicate overfitting, but the test accuracy still remained strong. Aim for about 2 minutes.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Yuceltan. Compare the two models. Decision Tree achieved 90.77 percent test accuracy, while Random Forest achieved 92.59 percent. The improvement is about 1.82 percentage points. Explain that Random Forest predicted more class 1 cases correctly than the Decision Tree, based on the confusion matrices. However, also mention that for this course, the model comparison is not the only result. The stronger result is that the project can be reproduced and explained. Aim for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Yuceltan. Close the presentation. Summarize the main challenges: not every R visualization translated directly, categorical encoding had to be made explicit, and the project had to be reorganized to be reproducible. Then mention team contributions. End with the final conclusion: the R workflow was successfully reproduced in Python, the code was cleaned into modules, the results were generated, and the project can be run from GitHub using a local Python environment. Aim for about 2 minutes,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Shape 1"/>
          <p:cNvSpPr/>
          <p:nvPr/>
        </p:nvSpPr>
        <p:spPr>
          <a:xfrm>
            <a:off x="502920" y="6492240"/>
            <a:ext cx="11201400" cy="0"/>
          </a:xfrm>
          <a:prstGeom prst="line">
            <a:avLst/>
          </a:prstGeom>
          <a:noFill/>
          <a:ln w="12700">
            <a:solidFill>
              <a:srgbClr val="334155"/>
            </a:solidFill>
            <a:prstDash val="solid"/>
          </a:ln>
        </p:spPr>
        <p:txBody>
          <a:bodyPr/>
          <a:lstStyle/>
          <a:p>
            <a:endParaRPr lang="en-US"/>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 y="502920"/>
            <a:ext cx="1920240" cy="329184"/>
          </a:xfrm>
          <a:prstGeom prst="roundRect">
            <a:avLst>
              <a:gd name="adj" fmla="val 25000"/>
            </a:avLst>
          </a:prstGeom>
          <a:solidFill>
            <a:srgbClr val="38BDF8">
              <a:alpha val="90000"/>
            </a:srgbClr>
          </a:solidFill>
          <a:ln w="12700">
            <a:solidFill>
              <a:srgbClr val="38BDF8">
                <a:alpha val="0"/>
              </a:srgbClr>
            </a:solidFill>
            <a:prstDash val="solid"/>
          </a:ln>
        </p:spPr>
        <p:txBody>
          <a:bodyPr/>
          <a:lstStyle/>
          <a:p>
            <a:endParaRPr lang="en-US"/>
          </a:p>
        </p:txBody>
      </p:sp>
      <p:sp>
        <p:nvSpPr>
          <p:cNvPr id="3" name="Text 1"/>
          <p:cNvSpPr/>
          <p:nvPr/>
        </p:nvSpPr>
        <p:spPr>
          <a:xfrm>
            <a:off x="713232" y="585216"/>
            <a:ext cx="1691640" cy="146304"/>
          </a:xfrm>
          <a:prstGeom prst="rect">
            <a:avLst/>
          </a:prstGeom>
          <a:noFill/>
          <a:ln/>
        </p:spPr>
        <p:txBody>
          <a:bodyPr wrap="square" rtlCol="0" anchor="ctr"/>
          <a:lstStyle/>
          <a:p>
            <a:pPr marL="0" indent="0" algn="ctr">
              <a:buNone/>
            </a:pPr>
            <a:r>
              <a:rPr lang="en-US" sz="880" b="1" dirty="0">
                <a:solidFill>
                  <a:srgbClr val="FFFFFF"/>
                </a:solidFill>
              </a:rPr>
              <a:t>Reproducible Research</a:t>
            </a:r>
            <a:endParaRPr lang="en-US" sz="880" dirty="0"/>
          </a:p>
        </p:txBody>
      </p:sp>
      <p:sp>
        <p:nvSpPr>
          <p:cNvPr id="4" name="Text 2"/>
          <p:cNvSpPr/>
          <p:nvPr/>
        </p:nvSpPr>
        <p:spPr>
          <a:xfrm>
            <a:off x="594360" y="1170432"/>
            <a:ext cx="8778240" cy="502920"/>
          </a:xfrm>
          <a:prstGeom prst="rect">
            <a:avLst/>
          </a:prstGeom>
          <a:noFill/>
          <a:ln/>
        </p:spPr>
        <p:txBody>
          <a:bodyPr wrap="square" rtlCol="0" anchor="ctr"/>
          <a:lstStyle/>
          <a:p>
            <a:pPr marL="0" indent="0">
              <a:buNone/>
            </a:pPr>
            <a:r>
              <a:rPr lang="en-US" sz="3200" b="1" dirty="0">
                <a:solidFill>
                  <a:srgbClr val="F8FAFC"/>
                </a:solidFill>
                <a:latin typeface="Aptos Display" pitchFamily="34" charset="0"/>
                <a:ea typeface="Aptos Display" pitchFamily="34" charset="-122"/>
                <a:cs typeface="Aptos Display" pitchFamily="34" charset="-120"/>
              </a:rPr>
              <a:t>Credit Risk Analysis</a:t>
            </a:r>
            <a:endParaRPr lang="en-US" sz="3200" dirty="0"/>
          </a:p>
        </p:txBody>
      </p:sp>
      <p:sp>
        <p:nvSpPr>
          <p:cNvPr id="5" name="Text 3"/>
          <p:cNvSpPr/>
          <p:nvPr/>
        </p:nvSpPr>
        <p:spPr>
          <a:xfrm>
            <a:off x="594360" y="1755648"/>
            <a:ext cx="9601200" cy="347472"/>
          </a:xfrm>
          <a:prstGeom prst="rect">
            <a:avLst/>
          </a:prstGeom>
          <a:noFill/>
          <a:ln/>
        </p:spPr>
        <p:txBody>
          <a:bodyPr wrap="square" rtlCol="0" anchor="ctr"/>
          <a:lstStyle/>
          <a:p>
            <a:pPr marL="0" indent="0">
              <a:buNone/>
            </a:pPr>
            <a:r>
              <a:rPr lang="en-US" sz="1700" dirty="0">
                <a:solidFill>
                  <a:srgbClr val="CBD5E1"/>
                </a:solidFill>
                <a:latin typeface="Aptos" pitchFamily="34" charset="0"/>
                <a:ea typeface="Aptos" pitchFamily="34" charset="-122"/>
                <a:cs typeface="Aptos" pitchFamily="34" charset="-120"/>
              </a:rPr>
              <a:t>Reproducing an R project in Python</a:t>
            </a:r>
            <a:endParaRPr lang="en-US" sz="1700" dirty="0"/>
          </a:p>
        </p:txBody>
      </p:sp>
      <p:sp>
        <p:nvSpPr>
          <p:cNvPr id="6" name="Text 4"/>
          <p:cNvSpPr/>
          <p:nvPr/>
        </p:nvSpPr>
        <p:spPr>
          <a:xfrm>
            <a:off x="594360" y="2240280"/>
            <a:ext cx="8595360" cy="292608"/>
          </a:xfrm>
          <a:prstGeom prst="rect">
            <a:avLst/>
          </a:prstGeom>
          <a:noFill/>
          <a:ln/>
        </p:spPr>
        <p:txBody>
          <a:bodyPr wrap="square" rtlCol="0" anchor="ctr"/>
          <a:lstStyle/>
          <a:p>
            <a:pPr marL="0" indent="0">
              <a:buNone/>
            </a:pPr>
            <a:r>
              <a:rPr lang="en-US" sz="1300" dirty="0">
                <a:solidFill>
                  <a:srgbClr val="38BDF8"/>
                </a:solidFill>
                <a:latin typeface="Aptos" pitchFamily="34" charset="0"/>
                <a:ea typeface="Aptos" pitchFamily="34" charset="-122"/>
                <a:cs typeface="Aptos" pitchFamily="34" charset="-120"/>
              </a:rPr>
              <a:t>Final project presentation · Approx. 20 minutes</a:t>
            </a:r>
            <a:endParaRPr lang="en-US" sz="1300" dirty="0"/>
          </a:p>
        </p:txBody>
      </p:sp>
      <p:sp>
        <p:nvSpPr>
          <p:cNvPr id="7" name="Shape 5"/>
          <p:cNvSpPr/>
          <p:nvPr/>
        </p:nvSpPr>
        <p:spPr>
          <a:xfrm>
            <a:off x="594360" y="2697480"/>
            <a:ext cx="4251960" cy="0"/>
          </a:xfrm>
          <a:prstGeom prst="line">
            <a:avLst/>
          </a:prstGeom>
          <a:noFill/>
          <a:ln w="38100">
            <a:solidFill>
              <a:srgbClr val="38BDF8"/>
            </a:solidFill>
            <a:prstDash val="solid"/>
          </a:ln>
        </p:spPr>
        <p:txBody>
          <a:bodyPr/>
          <a:lstStyle/>
          <a:p>
            <a:endParaRPr lang="en-US"/>
          </a:p>
        </p:txBody>
      </p:sp>
      <p:sp>
        <p:nvSpPr>
          <p:cNvPr id="8" name="Text 6"/>
          <p:cNvSpPr/>
          <p:nvPr/>
        </p:nvSpPr>
        <p:spPr>
          <a:xfrm>
            <a:off x="594360" y="3063240"/>
            <a:ext cx="2286000" cy="228600"/>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Team members</a:t>
            </a:r>
            <a:endParaRPr lang="en-US" sz="1300" dirty="0"/>
          </a:p>
        </p:txBody>
      </p:sp>
      <p:sp>
        <p:nvSpPr>
          <p:cNvPr id="9" name="Text 7"/>
          <p:cNvSpPr/>
          <p:nvPr/>
        </p:nvSpPr>
        <p:spPr>
          <a:xfrm>
            <a:off x="685800" y="3474720"/>
            <a:ext cx="228600" cy="201168"/>
          </a:xfrm>
          <a:prstGeom prst="rect">
            <a:avLst/>
          </a:prstGeom>
          <a:noFill/>
          <a:ln/>
        </p:spPr>
        <p:txBody>
          <a:bodyPr wrap="square" rtlCol="0" anchor="ctr"/>
          <a:lstStyle/>
          <a:p>
            <a:pPr marL="0" indent="0">
              <a:buNone/>
            </a:pPr>
            <a:r>
              <a:rPr lang="en-US" sz="1500" b="1" dirty="0">
                <a:solidFill>
                  <a:srgbClr val="38BDF8"/>
                </a:solidFill>
              </a:rPr>
              <a:t>•</a:t>
            </a:r>
            <a:endParaRPr lang="en-US" sz="1500" dirty="0"/>
          </a:p>
        </p:txBody>
      </p:sp>
      <p:sp>
        <p:nvSpPr>
          <p:cNvPr id="10" name="Text 8"/>
          <p:cNvSpPr/>
          <p:nvPr/>
        </p:nvSpPr>
        <p:spPr>
          <a:xfrm>
            <a:off x="978408" y="3456432"/>
            <a:ext cx="384048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Ahmet Hasanov</a:t>
            </a:r>
            <a:endParaRPr lang="en-US" sz="1300" dirty="0"/>
          </a:p>
        </p:txBody>
      </p:sp>
      <p:sp>
        <p:nvSpPr>
          <p:cNvPr id="11" name="Text 9"/>
          <p:cNvSpPr/>
          <p:nvPr/>
        </p:nvSpPr>
        <p:spPr>
          <a:xfrm>
            <a:off x="685800" y="3867912"/>
            <a:ext cx="228600" cy="201168"/>
          </a:xfrm>
          <a:prstGeom prst="rect">
            <a:avLst/>
          </a:prstGeom>
          <a:noFill/>
          <a:ln/>
        </p:spPr>
        <p:txBody>
          <a:bodyPr wrap="square" rtlCol="0" anchor="ctr"/>
          <a:lstStyle/>
          <a:p>
            <a:pPr marL="0" indent="0">
              <a:buNone/>
            </a:pPr>
            <a:r>
              <a:rPr lang="en-US" sz="1500" b="1" dirty="0">
                <a:solidFill>
                  <a:srgbClr val="38BDF8"/>
                </a:solidFill>
              </a:rPr>
              <a:t>•</a:t>
            </a:r>
            <a:endParaRPr lang="en-US" sz="1500" dirty="0"/>
          </a:p>
        </p:txBody>
      </p:sp>
      <p:sp>
        <p:nvSpPr>
          <p:cNvPr id="12" name="Text 10"/>
          <p:cNvSpPr/>
          <p:nvPr/>
        </p:nvSpPr>
        <p:spPr>
          <a:xfrm>
            <a:off x="978408" y="3849624"/>
            <a:ext cx="384048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Kuo Zhang</a:t>
            </a:r>
            <a:endParaRPr lang="en-US" sz="1300" dirty="0"/>
          </a:p>
        </p:txBody>
      </p:sp>
      <p:sp>
        <p:nvSpPr>
          <p:cNvPr id="13" name="Text 11"/>
          <p:cNvSpPr/>
          <p:nvPr/>
        </p:nvSpPr>
        <p:spPr>
          <a:xfrm>
            <a:off x="685800" y="4261104"/>
            <a:ext cx="228600" cy="201168"/>
          </a:xfrm>
          <a:prstGeom prst="rect">
            <a:avLst/>
          </a:prstGeom>
          <a:noFill/>
          <a:ln/>
        </p:spPr>
        <p:txBody>
          <a:bodyPr wrap="square" rtlCol="0" anchor="ctr"/>
          <a:lstStyle/>
          <a:p>
            <a:pPr marL="0" indent="0">
              <a:buNone/>
            </a:pPr>
            <a:r>
              <a:rPr lang="en-US" sz="1500" b="1" dirty="0">
                <a:solidFill>
                  <a:srgbClr val="38BDF8"/>
                </a:solidFill>
              </a:rPr>
              <a:t>•</a:t>
            </a:r>
            <a:endParaRPr lang="en-US" sz="1500" dirty="0"/>
          </a:p>
        </p:txBody>
      </p:sp>
      <p:sp>
        <p:nvSpPr>
          <p:cNvPr id="14" name="Text 12"/>
          <p:cNvSpPr/>
          <p:nvPr/>
        </p:nvSpPr>
        <p:spPr>
          <a:xfrm>
            <a:off x="978408" y="4242816"/>
            <a:ext cx="384048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Nijat Abiyev</a:t>
            </a:r>
            <a:endParaRPr lang="en-US" sz="1300" dirty="0"/>
          </a:p>
        </p:txBody>
      </p:sp>
      <p:sp>
        <p:nvSpPr>
          <p:cNvPr id="15" name="Text 13"/>
          <p:cNvSpPr/>
          <p:nvPr/>
        </p:nvSpPr>
        <p:spPr>
          <a:xfrm>
            <a:off x="685800" y="4654296"/>
            <a:ext cx="228600" cy="201168"/>
          </a:xfrm>
          <a:prstGeom prst="rect">
            <a:avLst/>
          </a:prstGeom>
          <a:noFill/>
          <a:ln/>
        </p:spPr>
        <p:txBody>
          <a:bodyPr wrap="square" rtlCol="0" anchor="ctr"/>
          <a:lstStyle/>
          <a:p>
            <a:pPr marL="0" indent="0">
              <a:buNone/>
            </a:pPr>
            <a:r>
              <a:rPr lang="en-US" sz="1500" b="1" dirty="0">
                <a:solidFill>
                  <a:srgbClr val="38BDF8"/>
                </a:solidFill>
              </a:rPr>
              <a:t>•</a:t>
            </a:r>
            <a:endParaRPr lang="en-US" sz="1500" dirty="0"/>
          </a:p>
        </p:txBody>
      </p:sp>
      <p:sp>
        <p:nvSpPr>
          <p:cNvPr id="16" name="Text 14"/>
          <p:cNvSpPr/>
          <p:nvPr/>
        </p:nvSpPr>
        <p:spPr>
          <a:xfrm>
            <a:off x="978408" y="4636008"/>
            <a:ext cx="384048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Yuceltan Ebiri</a:t>
            </a:r>
            <a:endParaRPr lang="en-US" sz="1300" dirty="0"/>
          </a:p>
        </p:txBody>
      </p:sp>
      <p:sp>
        <p:nvSpPr>
          <p:cNvPr id="17" name="Shape 15"/>
          <p:cNvSpPr/>
          <p:nvPr/>
        </p:nvSpPr>
        <p:spPr>
          <a:xfrm>
            <a:off x="6446520" y="1234440"/>
            <a:ext cx="5074920" cy="3246120"/>
          </a:xfrm>
          <a:prstGeom prst="roundRect">
            <a:avLst>
              <a:gd name="adj" fmla="val 4507"/>
            </a:avLst>
          </a:prstGeom>
          <a:solidFill>
            <a:srgbClr val="1E293B">
              <a:alpha val="94000"/>
            </a:srgbClr>
          </a:solidFill>
          <a:ln w="12700">
            <a:solidFill>
              <a:srgbClr val="334155">
                <a:alpha val="75000"/>
              </a:srgbClr>
            </a:solidFill>
            <a:prstDash val="solid"/>
          </a:ln>
        </p:spPr>
        <p:txBody>
          <a:bodyPr/>
          <a:lstStyle/>
          <a:p>
            <a:endParaRPr lang="en-US"/>
          </a:p>
        </p:txBody>
      </p:sp>
      <p:sp>
        <p:nvSpPr>
          <p:cNvPr id="18" name="Shape 16"/>
          <p:cNvSpPr/>
          <p:nvPr/>
        </p:nvSpPr>
        <p:spPr>
          <a:xfrm>
            <a:off x="6446520" y="1234440"/>
            <a:ext cx="54864" cy="3246120"/>
          </a:xfrm>
          <a:prstGeom prst="rect">
            <a:avLst/>
          </a:prstGeom>
          <a:solidFill>
            <a:srgbClr val="22C55E"/>
          </a:solidFill>
          <a:ln w="12700">
            <a:solidFill>
              <a:srgbClr val="22C55E"/>
            </a:solidFill>
            <a:prstDash val="solid"/>
          </a:ln>
        </p:spPr>
        <p:txBody>
          <a:bodyPr/>
          <a:lstStyle/>
          <a:p>
            <a:endParaRPr lang="en-US"/>
          </a:p>
        </p:txBody>
      </p:sp>
      <p:sp>
        <p:nvSpPr>
          <p:cNvPr id="19" name="Text 17"/>
          <p:cNvSpPr/>
          <p:nvPr/>
        </p:nvSpPr>
        <p:spPr>
          <a:xfrm>
            <a:off x="6647688" y="1399032"/>
            <a:ext cx="470916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Presentation focus</a:t>
            </a:r>
            <a:endParaRPr lang="en-US" sz="1300" dirty="0"/>
          </a:p>
        </p:txBody>
      </p:sp>
      <p:sp>
        <p:nvSpPr>
          <p:cNvPr id="20" name="Text 18"/>
          <p:cNvSpPr/>
          <p:nvPr/>
        </p:nvSpPr>
        <p:spPr>
          <a:xfrm>
            <a:off x="6647688" y="1764792"/>
            <a:ext cx="4709160" cy="258775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How we reproduced the original R workflow in Python, what challenges appeared, how the project is structured, and how another person can run it from GitHub.</a:t>
            </a:r>
            <a:endParaRPr lang="en-US" sz="1050" dirty="0"/>
          </a:p>
        </p:txBody>
      </p:sp>
      <p:sp>
        <p:nvSpPr>
          <p:cNvPr id="21" name="Text 19"/>
          <p:cNvSpPr/>
          <p:nvPr/>
        </p:nvSpPr>
        <p:spPr>
          <a:xfrm>
            <a:off x="6537960" y="4828032"/>
            <a:ext cx="4800600" cy="292608"/>
          </a:xfrm>
          <a:prstGeom prst="rect">
            <a:avLst/>
          </a:prstGeom>
          <a:noFill/>
          <a:ln/>
        </p:spPr>
        <p:txBody>
          <a:bodyPr wrap="square" rtlCol="0" anchor="ctr"/>
          <a:lstStyle/>
          <a:p>
            <a:r>
              <a:t>GitHub · Python · Documentation · Reproducibility</a:t>
            </a:r>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What the Course Asked Us to Demonstrate</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685800" y="1417320"/>
            <a:ext cx="3520440" cy="1143000"/>
          </a:xfrm>
          <a:prstGeom prst="roundRect">
            <a:avLst>
              <a:gd name="adj" fmla="val 12800"/>
            </a:avLst>
          </a:prstGeom>
          <a:solidFill>
            <a:srgbClr val="1E293B">
              <a:alpha val="94000"/>
            </a:srgbClr>
          </a:solidFill>
          <a:ln w="12700">
            <a:solidFill>
              <a:srgbClr val="334155">
                <a:alpha val="75000"/>
              </a:srgbClr>
            </a:solidFill>
            <a:prstDash val="solid"/>
          </a:ln>
        </p:spPr>
        <p:txBody>
          <a:bodyPr/>
          <a:lstStyle/>
          <a:p>
            <a:endParaRPr lang="en-US"/>
          </a:p>
        </p:txBody>
      </p:sp>
      <p:sp>
        <p:nvSpPr>
          <p:cNvPr id="6" name="Shape 4"/>
          <p:cNvSpPr/>
          <p:nvPr/>
        </p:nvSpPr>
        <p:spPr>
          <a:xfrm>
            <a:off x="685800" y="1417320"/>
            <a:ext cx="54864" cy="1143000"/>
          </a:xfrm>
          <a:prstGeom prst="rect">
            <a:avLst/>
          </a:prstGeom>
          <a:solidFill>
            <a:srgbClr val="38BDF8"/>
          </a:solidFill>
          <a:ln w="12700">
            <a:solidFill>
              <a:srgbClr val="38BDF8"/>
            </a:solidFill>
            <a:prstDash val="solid"/>
          </a:ln>
        </p:spPr>
        <p:txBody>
          <a:bodyPr/>
          <a:lstStyle/>
          <a:p>
            <a:endParaRPr lang="en-US"/>
          </a:p>
        </p:txBody>
      </p:sp>
      <p:sp>
        <p:nvSpPr>
          <p:cNvPr id="7" name="Text 5"/>
          <p:cNvSpPr/>
          <p:nvPr/>
        </p:nvSpPr>
        <p:spPr>
          <a:xfrm>
            <a:off x="886968" y="1581912"/>
            <a:ext cx="315468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1. Reproduction process</a:t>
            </a:r>
            <a:endParaRPr lang="en-US" sz="1300" dirty="0"/>
          </a:p>
        </p:txBody>
      </p:sp>
      <p:sp>
        <p:nvSpPr>
          <p:cNvPr id="8" name="Text 6"/>
          <p:cNvSpPr/>
          <p:nvPr/>
        </p:nvSpPr>
        <p:spPr>
          <a:xfrm>
            <a:off x="886968" y="1947672"/>
            <a:ext cx="3154680" cy="48463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Did the reproduction succeed? What was missing? What did not translate directly?</a:t>
            </a:r>
            <a:endParaRPr lang="en-US" sz="1050" dirty="0"/>
          </a:p>
        </p:txBody>
      </p:sp>
      <p:sp>
        <p:nvSpPr>
          <p:cNvPr id="9" name="Shape 7"/>
          <p:cNvSpPr/>
          <p:nvPr/>
        </p:nvSpPr>
        <p:spPr>
          <a:xfrm>
            <a:off x="4434840" y="1417320"/>
            <a:ext cx="3520440" cy="1143000"/>
          </a:xfrm>
          <a:prstGeom prst="roundRect">
            <a:avLst>
              <a:gd name="adj" fmla="val 12800"/>
            </a:avLst>
          </a:prstGeom>
          <a:solidFill>
            <a:srgbClr val="1E293B">
              <a:alpha val="94000"/>
            </a:srgbClr>
          </a:solidFill>
          <a:ln w="12700">
            <a:solidFill>
              <a:srgbClr val="334155">
                <a:alpha val="75000"/>
              </a:srgbClr>
            </a:solidFill>
            <a:prstDash val="solid"/>
          </a:ln>
        </p:spPr>
        <p:txBody>
          <a:bodyPr/>
          <a:lstStyle/>
          <a:p>
            <a:endParaRPr lang="en-US"/>
          </a:p>
        </p:txBody>
      </p:sp>
      <p:sp>
        <p:nvSpPr>
          <p:cNvPr id="10" name="Shape 8"/>
          <p:cNvSpPr/>
          <p:nvPr/>
        </p:nvSpPr>
        <p:spPr>
          <a:xfrm>
            <a:off x="4434840" y="1417320"/>
            <a:ext cx="54864" cy="1143000"/>
          </a:xfrm>
          <a:prstGeom prst="rect">
            <a:avLst/>
          </a:prstGeom>
          <a:solidFill>
            <a:srgbClr val="22C55E"/>
          </a:solidFill>
          <a:ln w="12700">
            <a:solidFill>
              <a:srgbClr val="22C55E"/>
            </a:solidFill>
            <a:prstDash val="solid"/>
          </a:ln>
        </p:spPr>
        <p:txBody>
          <a:bodyPr/>
          <a:lstStyle/>
          <a:p>
            <a:endParaRPr lang="en-US"/>
          </a:p>
        </p:txBody>
      </p:sp>
      <p:sp>
        <p:nvSpPr>
          <p:cNvPr id="11" name="Text 9"/>
          <p:cNvSpPr/>
          <p:nvPr/>
        </p:nvSpPr>
        <p:spPr>
          <a:xfrm>
            <a:off x="4636008" y="1581912"/>
            <a:ext cx="315468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2. Reproducibility</a:t>
            </a:r>
            <a:endParaRPr lang="en-US" sz="1300" dirty="0"/>
          </a:p>
        </p:txBody>
      </p:sp>
      <p:sp>
        <p:nvSpPr>
          <p:cNvPr id="12" name="Text 10"/>
          <p:cNvSpPr/>
          <p:nvPr/>
        </p:nvSpPr>
        <p:spPr>
          <a:xfrm>
            <a:off x="4636008" y="1947672"/>
            <a:ext cx="3154680" cy="48463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Clear instructions, dependencies, software versions, and a runnable project.</a:t>
            </a:r>
            <a:endParaRPr lang="en-US" sz="1050" dirty="0"/>
          </a:p>
        </p:txBody>
      </p:sp>
      <p:sp>
        <p:nvSpPr>
          <p:cNvPr id="13" name="Shape 11"/>
          <p:cNvSpPr/>
          <p:nvPr/>
        </p:nvSpPr>
        <p:spPr>
          <a:xfrm>
            <a:off x="8183880" y="1417320"/>
            <a:ext cx="3337560" cy="1143000"/>
          </a:xfrm>
          <a:prstGeom prst="roundRect">
            <a:avLst>
              <a:gd name="adj" fmla="val 12800"/>
            </a:avLst>
          </a:prstGeom>
          <a:solidFill>
            <a:srgbClr val="1E293B">
              <a:alpha val="94000"/>
            </a:srgbClr>
          </a:solidFill>
          <a:ln w="12700">
            <a:solidFill>
              <a:srgbClr val="334155">
                <a:alpha val="75000"/>
              </a:srgbClr>
            </a:solidFill>
            <a:prstDash val="solid"/>
          </a:ln>
        </p:spPr>
        <p:txBody>
          <a:bodyPr/>
          <a:lstStyle/>
          <a:p>
            <a:endParaRPr lang="en-US"/>
          </a:p>
        </p:txBody>
      </p:sp>
      <p:sp>
        <p:nvSpPr>
          <p:cNvPr id="14" name="Shape 12"/>
          <p:cNvSpPr/>
          <p:nvPr/>
        </p:nvSpPr>
        <p:spPr>
          <a:xfrm>
            <a:off x="8183880" y="1417320"/>
            <a:ext cx="54864" cy="1143000"/>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8385048" y="1581912"/>
            <a:ext cx="297180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3. Code quality</a:t>
            </a:r>
            <a:endParaRPr lang="en-US" sz="1300" dirty="0"/>
          </a:p>
        </p:txBody>
      </p:sp>
      <p:sp>
        <p:nvSpPr>
          <p:cNvPr id="16" name="Text 14"/>
          <p:cNvSpPr/>
          <p:nvPr/>
        </p:nvSpPr>
        <p:spPr>
          <a:xfrm>
            <a:off x="8385048" y="1947672"/>
            <a:ext cx="2971800" cy="48463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Clean, modular, user-friendly code instead of one long script.</a:t>
            </a:r>
            <a:endParaRPr lang="en-US" sz="1050" dirty="0"/>
          </a:p>
        </p:txBody>
      </p:sp>
      <p:sp>
        <p:nvSpPr>
          <p:cNvPr id="17" name="Shape 15"/>
          <p:cNvSpPr/>
          <p:nvPr/>
        </p:nvSpPr>
        <p:spPr>
          <a:xfrm>
            <a:off x="685800" y="2926080"/>
            <a:ext cx="5349240" cy="1371600"/>
          </a:xfrm>
          <a:prstGeom prst="roundRect">
            <a:avLst>
              <a:gd name="adj" fmla="val 10667"/>
            </a:avLst>
          </a:prstGeom>
          <a:solidFill>
            <a:srgbClr val="1E293B">
              <a:alpha val="94000"/>
            </a:srgbClr>
          </a:solidFill>
          <a:ln w="12700">
            <a:solidFill>
              <a:srgbClr val="334155">
                <a:alpha val="75000"/>
              </a:srgbClr>
            </a:solidFill>
            <a:prstDash val="solid"/>
          </a:ln>
        </p:spPr>
        <p:txBody>
          <a:bodyPr/>
          <a:lstStyle/>
          <a:p>
            <a:endParaRPr lang="en-US"/>
          </a:p>
        </p:txBody>
      </p:sp>
      <p:sp>
        <p:nvSpPr>
          <p:cNvPr id="18" name="Shape 16"/>
          <p:cNvSpPr/>
          <p:nvPr/>
        </p:nvSpPr>
        <p:spPr>
          <a:xfrm>
            <a:off x="685800" y="2926080"/>
            <a:ext cx="54864" cy="1371600"/>
          </a:xfrm>
          <a:prstGeom prst="rect">
            <a:avLst/>
          </a:prstGeom>
          <a:solidFill>
            <a:srgbClr val="A78BFA"/>
          </a:solidFill>
          <a:ln w="12700">
            <a:solidFill>
              <a:srgbClr val="A78BFA"/>
            </a:solidFill>
            <a:prstDash val="solid"/>
          </a:ln>
        </p:spPr>
        <p:txBody>
          <a:bodyPr/>
          <a:lstStyle/>
          <a:p>
            <a:endParaRPr lang="en-US"/>
          </a:p>
        </p:txBody>
      </p:sp>
      <p:sp>
        <p:nvSpPr>
          <p:cNvPr id="19" name="Text 17"/>
          <p:cNvSpPr/>
          <p:nvPr/>
        </p:nvSpPr>
        <p:spPr>
          <a:xfrm>
            <a:off x="886968" y="3090672"/>
            <a:ext cx="498348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4. Collaboration and Git</a:t>
            </a:r>
            <a:endParaRPr lang="en-US" sz="1300" dirty="0"/>
          </a:p>
        </p:txBody>
      </p:sp>
      <p:sp>
        <p:nvSpPr>
          <p:cNvPr id="20" name="Text 18"/>
          <p:cNvSpPr/>
          <p:nvPr/>
        </p:nvSpPr>
        <p:spPr>
          <a:xfrm>
            <a:off x="886968" y="3456432"/>
            <a:ext cx="4983480" cy="71323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A project stored in a repository with visible history and meaningful commits from team members.</a:t>
            </a:r>
            <a:endParaRPr lang="en-US" sz="1050" dirty="0"/>
          </a:p>
        </p:txBody>
      </p:sp>
      <p:sp>
        <p:nvSpPr>
          <p:cNvPr id="21" name="Shape 19"/>
          <p:cNvSpPr/>
          <p:nvPr/>
        </p:nvSpPr>
        <p:spPr>
          <a:xfrm>
            <a:off x="6263640" y="2926080"/>
            <a:ext cx="5257800" cy="1371600"/>
          </a:xfrm>
          <a:prstGeom prst="roundRect">
            <a:avLst>
              <a:gd name="adj" fmla="val 10667"/>
            </a:avLst>
          </a:prstGeom>
          <a:solidFill>
            <a:srgbClr val="1E293B">
              <a:alpha val="94000"/>
            </a:srgbClr>
          </a:solidFill>
          <a:ln w="12700">
            <a:solidFill>
              <a:srgbClr val="334155">
                <a:alpha val="75000"/>
              </a:srgbClr>
            </a:solidFill>
            <a:prstDash val="solid"/>
          </a:ln>
        </p:spPr>
        <p:txBody>
          <a:bodyPr/>
          <a:lstStyle/>
          <a:p>
            <a:endParaRPr lang="en-US"/>
          </a:p>
        </p:txBody>
      </p:sp>
      <p:sp>
        <p:nvSpPr>
          <p:cNvPr id="22" name="Shape 20"/>
          <p:cNvSpPr/>
          <p:nvPr/>
        </p:nvSpPr>
        <p:spPr>
          <a:xfrm>
            <a:off x="6263640" y="2926080"/>
            <a:ext cx="54864" cy="1371600"/>
          </a:xfrm>
          <a:prstGeom prst="rect">
            <a:avLst/>
          </a:prstGeom>
          <a:solidFill>
            <a:srgbClr val="F97316"/>
          </a:solidFill>
          <a:ln w="12700">
            <a:solidFill>
              <a:srgbClr val="F97316"/>
            </a:solidFill>
            <a:prstDash val="solid"/>
          </a:ln>
        </p:spPr>
        <p:txBody>
          <a:bodyPr/>
          <a:lstStyle/>
          <a:p>
            <a:endParaRPr lang="en-US"/>
          </a:p>
        </p:txBody>
      </p:sp>
      <p:sp>
        <p:nvSpPr>
          <p:cNvPr id="23" name="Text 21"/>
          <p:cNvSpPr/>
          <p:nvPr/>
        </p:nvSpPr>
        <p:spPr>
          <a:xfrm>
            <a:off x="6464808" y="3090672"/>
            <a:ext cx="489204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5. Presentation and code walkthrough</a:t>
            </a:r>
            <a:endParaRPr lang="en-US" sz="1300" dirty="0"/>
          </a:p>
        </p:txBody>
      </p:sp>
      <p:sp>
        <p:nvSpPr>
          <p:cNvPr id="24" name="Text 22"/>
          <p:cNvSpPr/>
          <p:nvPr/>
        </p:nvSpPr>
        <p:spPr>
          <a:xfrm>
            <a:off x="6464808" y="3456432"/>
            <a:ext cx="4892040" cy="71323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The project should be presented by the team and should briefly show the code as well.</a:t>
            </a:r>
            <a:endParaRPr lang="en-US" sz="1050" dirty="0"/>
          </a:p>
        </p:txBody>
      </p:sp>
      <p:sp>
        <p:nvSpPr>
          <p:cNvPr id="25" name="Text 23"/>
          <p:cNvSpPr/>
          <p:nvPr/>
        </p:nvSpPr>
        <p:spPr>
          <a:xfrm>
            <a:off x="1005840" y="5029200"/>
            <a:ext cx="10241280" cy="365760"/>
          </a:xfrm>
          <a:prstGeom prst="rect">
            <a:avLst/>
          </a:prstGeom>
          <a:noFill/>
          <a:ln/>
        </p:spPr>
        <p:txBody>
          <a:bodyPr wrap="square" rtlCol="0" anchor="ctr"/>
          <a:lstStyle/>
          <a:p>
            <a:pPr marL="0" indent="0" algn="ctr">
              <a:buNone/>
            </a:pPr>
            <a:r>
              <a:rPr lang="en-US" sz="1700" b="1" dirty="0">
                <a:solidFill>
                  <a:srgbClr val="F8FAFC"/>
                </a:solidFill>
              </a:rPr>
              <a:t>Our project was designed around these requirements rather than only around model accuracy.</a:t>
            </a:r>
            <a:endParaRPr lang="en-US" sz="1700" dirty="0"/>
          </a:p>
        </p:txBody>
      </p:sp>
      <p:sp>
        <p:nvSpPr>
          <p:cNvPr id="26"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Project Objective: From R to Python</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Text 3"/>
          <p:cNvSpPr/>
          <p:nvPr/>
        </p:nvSpPr>
        <p:spPr>
          <a:xfrm>
            <a:off x="731520" y="1371600"/>
            <a:ext cx="2194560" cy="274320"/>
          </a:xfrm>
          <a:prstGeom prst="rect">
            <a:avLst/>
          </a:prstGeom>
          <a:noFill/>
          <a:ln/>
        </p:spPr>
        <p:txBody>
          <a:bodyPr wrap="square" rtlCol="0" anchor="ctr"/>
          <a:lstStyle/>
          <a:p>
            <a:pPr marL="0" indent="0">
              <a:buNone/>
            </a:pPr>
            <a:r>
              <a:rPr lang="en-US" sz="1400" b="1" dirty="0">
                <a:solidFill>
                  <a:srgbClr val="38BDF8"/>
                </a:solidFill>
              </a:rPr>
              <a:t>Original idea</a:t>
            </a:r>
            <a:endParaRPr lang="en-US" sz="1400" dirty="0"/>
          </a:p>
        </p:txBody>
      </p:sp>
      <p:sp>
        <p:nvSpPr>
          <p:cNvPr id="6" name="Text 4"/>
          <p:cNvSpPr/>
          <p:nvPr/>
        </p:nvSpPr>
        <p:spPr>
          <a:xfrm>
            <a:off x="777240" y="1801368"/>
            <a:ext cx="228600" cy="201168"/>
          </a:xfrm>
          <a:prstGeom prst="rect">
            <a:avLst/>
          </a:prstGeom>
          <a:noFill/>
          <a:ln/>
        </p:spPr>
        <p:txBody>
          <a:bodyPr wrap="square" rtlCol="0" anchor="ctr"/>
          <a:lstStyle/>
          <a:p>
            <a:pPr marL="0" indent="0">
              <a:buNone/>
            </a:pPr>
            <a:r>
              <a:rPr lang="en-US" sz="1500" b="1" dirty="0">
                <a:solidFill>
                  <a:srgbClr val="38BDF8"/>
                </a:solidFill>
              </a:rPr>
              <a:t>•</a:t>
            </a:r>
            <a:endParaRPr lang="en-US" sz="1500" dirty="0"/>
          </a:p>
        </p:txBody>
      </p:sp>
      <p:sp>
        <p:nvSpPr>
          <p:cNvPr id="7" name="Text 5"/>
          <p:cNvSpPr/>
          <p:nvPr/>
        </p:nvSpPr>
        <p:spPr>
          <a:xfrm>
            <a:off x="1069848" y="1783080"/>
            <a:ext cx="484632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Start from an existing R analysis</a:t>
            </a:r>
            <a:endParaRPr lang="en-US" sz="1300" dirty="0"/>
          </a:p>
        </p:txBody>
      </p:sp>
      <p:sp>
        <p:nvSpPr>
          <p:cNvPr id="8" name="Text 6"/>
          <p:cNvSpPr/>
          <p:nvPr/>
        </p:nvSpPr>
        <p:spPr>
          <a:xfrm>
            <a:off x="777240" y="2185416"/>
            <a:ext cx="228600" cy="201168"/>
          </a:xfrm>
          <a:prstGeom prst="rect">
            <a:avLst/>
          </a:prstGeom>
          <a:noFill/>
          <a:ln/>
        </p:spPr>
        <p:txBody>
          <a:bodyPr wrap="square" rtlCol="0" anchor="ctr"/>
          <a:lstStyle/>
          <a:p>
            <a:pPr marL="0" indent="0">
              <a:buNone/>
            </a:pPr>
            <a:r>
              <a:rPr lang="en-US" sz="1500" b="1" dirty="0">
                <a:solidFill>
                  <a:srgbClr val="38BDF8"/>
                </a:solidFill>
              </a:rPr>
              <a:t>•</a:t>
            </a:r>
            <a:endParaRPr lang="en-US" sz="1500" dirty="0"/>
          </a:p>
        </p:txBody>
      </p:sp>
      <p:sp>
        <p:nvSpPr>
          <p:cNvPr id="9" name="Text 7"/>
          <p:cNvSpPr/>
          <p:nvPr/>
        </p:nvSpPr>
        <p:spPr>
          <a:xfrm>
            <a:off x="1069848" y="2167128"/>
            <a:ext cx="484632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Understand its workflow and assumptions</a:t>
            </a:r>
            <a:endParaRPr lang="en-US" sz="1300" dirty="0"/>
          </a:p>
        </p:txBody>
      </p:sp>
      <p:sp>
        <p:nvSpPr>
          <p:cNvPr id="10" name="Text 8"/>
          <p:cNvSpPr/>
          <p:nvPr/>
        </p:nvSpPr>
        <p:spPr>
          <a:xfrm>
            <a:off x="777240" y="2569464"/>
            <a:ext cx="228600" cy="201168"/>
          </a:xfrm>
          <a:prstGeom prst="rect">
            <a:avLst/>
          </a:prstGeom>
          <a:noFill/>
          <a:ln/>
        </p:spPr>
        <p:txBody>
          <a:bodyPr wrap="square" rtlCol="0" anchor="ctr"/>
          <a:lstStyle/>
          <a:p>
            <a:pPr marL="0" indent="0">
              <a:buNone/>
            </a:pPr>
            <a:r>
              <a:rPr lang="en-US" sz="1500" b="1" dirty="0">
                <a:solidFill>
                  <a:srgbClr val="38BDF8"/>
                </a:solidFill>
              </a:rPr>
              <a:t>•</a:t>
            </a:r>
            <a:endParaRPr lang="en-US" sz="1500" dirty="0"/>
          </a:p>
        </p:txBody>
      </p:sp>
      <p:sp>
        <p:nvSpPr>
          <p:cNvPr id="11" name="Text 9"/>
          <p:cNvSpPr/>
          <p:nvPr/>
        </p:nvSpPr>
        <p:spPr>
          <a:xfrm>
            <a:off x="1069848" y="2551176"/>
            <a:ext cx="484632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Recreate the same logic in Python</a:t>
            </a:r>
            <a:endParaRPr lang="en-US" sz="1300" dirty="0"/>
          </a:p>
        </p:txBody>
      </p:sp>
      <p:sp>
        <p:nvSpPr>
          <p:cNvPr id="12" name="Text 10"/>
          <p:cNvSpPr/>
          <p:nvPr/>
        </p:nvSpPr>
        <p:spPr>
          <a:xfrm>
            <a:off x="6172200" y="1371600"/>
            <a:ext cx="2560320" cy="274320"/>
          </a:xfrm>
          <a:prstGeom prst="rect">
            <a:avLst/>
          </a:prstGeom>
          <a:noFill/>
          <a:ln/>
        </p:spPr>
        <p:txBody>
          <a:bodyPr wrap="square" rtlCol="0" anchor="ctr"/>
          <a:lstStyle/>
          <a:p>
            <a:pPr marL="0" indent="0">
              <a:buNone/>
            </a:pPr>
            <a:r>
              <a:rPr lang="en-US" sz="1400" b="1" dirty="0">
                <a:solidFill>
                  <a:srgbClr val="22C55E"/>
                </a:solidFill>
              </a:rPr>
              <a:t>Python reproduction</a:t>
            </a:r>
            <a:endParaRPr lang="en-US" sz="1400" dirty="0"/>
          </a:p>
        </p:txBody>
      </p:sp>
      <p:sp>
        <p:nvSpPr>
          <p:cNvPr id="13" name="Text 11"/>
          <p:cNvSpPr/>
          <p:nvPr/>
        </p:nvSpPr>
        <p:spPr>
          <a:xfrm>
            <a:off x="6217920" y="1801368"/>
            <a:ext cx="228600" cy="201168"/>
          </a:xfrm>
          <a:prstGeom prst="rect">
            <a:avLst/>
          </a:prstGeom>
          <a:noFill/>
          <a:ln/>
        </p:spPr>
        <p:txBody>
          <a:bodyPr wrap="square" rtlCol="0" anchor="ctr"/>
          <a:lstStyle/>
          <a:p>
            <a:pPr marL="0" indent="0">
              <a:buNone/>
            </a:pPr>
            <a:r>
              <a:rPr lang="en-US" sz="1500" b="1" dirty="0">
                <a:solidFill>
                  <a:srgbClr val="22C55E"/>
                </a:solidFill>
              </a:rPr>
              <a:t>•</a:t>
            </a:r>
            <a:endParaRPr lang="en-US" sz="1500" dirty="0"/>
          </a:p>
        </p:txBody>
      </p:sp>
      <p:sp>
        <p:nvSpPr>
          <p:cNvPr id="14" name="Text 12"/>
          <p:cNvSpPr/>
          <p:nvPr/>
        </p:nvSpPr>
        <p:spPr>
          <a:xfrm>
            <a:off x="6510528" y="1783080"/>
            <a:ext cx="493776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Load and inspect the loan dataset</a:t>
            </a:r>
            <a:endParaRPr lang="en-US" sz="1300" dirty="0"/>
          </a:p>
        </p:txBody>
      </p:sp>
      <p:sp>
        <p:nvSpPr>
          <p:cNvPr id="15" name="Text 13"/>
          <p:cNvSpPr/>
          <p:nvPr/>
        </p:nvSpPr>
        <p:spPr>
          <a:xfrm>
            <a:off x="6217920" y="2185416"/>
            <a:ext cx="228600" cy="201168"/>
          </a:xfrm>
          <a:prstGeom prst="rect">
            <a:avLst/>
          </a:prstGeom>
          <a:noFill/>
          <a:ln/>
        </p:spPr>
        <p:txBody>
          <a:bodyPr wrap="square" rtlCol="0" anchor="ctr"/>
          <a:lstStyle/>
          <a:p>
            <a:pPr marL="0" indent="0">
              <a:buNone/>
            </a:pPr>
            <a:r>
              <a:rPr lang="en-US" sz="1500" b="1" dirty="0">
                <a:solidFill>
                  <a:srgbClr val="22C55E"/>
                </a:solidFill>
              </a:rPr>
              <a:t>•</a:t>
            </a:r>
            <a:endParaRPr lang="en-US" sz="1500" dirty="0"/>
          </a:p>
        </p:txBody>
      </p:sp>
      <p:sp>
        <p:nvSpPr>
          <p:cNvPr id="16" name="Text 14"/>
          <p:cNvSpPr/>
          <p:nvPr/>
        </p:nvSpPr>
        <p:spPr>
          <a:xfrm>
            <a:off x="6510528" y="2167128"/>
            <a:ext cx="493776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Recreate EDA and visualizations</a:t>
            </a:r>
            <a:endParaRPr lang="en-US" sz="1300" dirty="0"/>
          </a:p>
        </p:txBody>
      </p:sp>
      <p:sp>
        <p:nvSpPr>
          <p:cNvPr id="17" name="Text 15"/>
          <p:cNvSpPr/>
          <p:nvPr/>
        </p:nvSpPr>
        <p:spPr>
          <a:xfrm>
            <a:off x="6217920" y="2569464"/>
            <a:ext cx="228600" cy="201168"/>
          </a:xfrm>
          <a:prstGeom prst="rect">
            <a:avLst/>
          </a:prstGeom>
          <a:noFill/>
          <a:ln/>
        </p:spPr>
        <p:txBody>
          <a:bodyPr wrap="square" rtlCol="0" anchor="ctr"/>
          <a:lstStyle/>
          <a:p>
            <a:pPr marL="0" indent="0">
              <a:buNone/>
            </a:pPr>
            <a:r>
              <a:rPr lang="en-US" sz="1500" b="1" dirty="0">
                <a:solidFill>
                  <a:srgbClr val="22C55E"/>
                </a:solidFill>
              </a:rPr>
              <a:t>•</a:t>
            </a:r>
            <a:endParaRPr lang="en-US" sz="1500" dirty="0"/>
          </a:p>
        </p:txBody>
      </p:sp>
      <p:sp>
        <p:nvSpPr>
          <p:cNvPr id="18" name="Text 16"/>
          <p:cNvSpPr/>
          <p:nvPr/>
        </p:nvSpPr>
        <p:spPr>
          <a:xfrm>
            <a:off x="6510528" y="2551176"/>
            <a:ext cx="4937760" cy="292608"/>
          </a:xfrm>
          <a:prstGeom prst="rect">
            <a:avLst/>
          </a:prstGeom>
          <a:noFill/>
          <a:ln/>
        </p:spPr>
        <p:txBody>
          <a:bodyPr wrap="square" rtlCol="0" anchor="ctr">
            <a:normAutofit/>
          </a:bodyPr>
          <a:lstStyle/>
          <a:p>
            <a:pPr marL="0" indent="0">
              <a:buNone/>
            </a:pPr>
            <a:r>
              <a:rPr lang="en-US" sz="1300" dirty="0">
                <a:solidFill>
                  <a:srgbClr val="F8FAFC"/>
                </a:solidFill>
                <a:latin typeface="Aptos" pitchFamily="34" charset="0"/>
                <a:ea typeface="Aptos" pitchFamily="34" charset="-122"/>
                <a:cs typeface="Aptos" pitchFamily="34" charset="-120"/>
              </a:rPr>
              <a:t>Train Decision Tree and Random Forest models</a:t>
            </a:r>
            <a:endParaRPr lang="en-US" sz="1300" dirty="0"/>
          </a:p>
        </p:txBody>
      </p:sp>
      <p:sp>
        <p:nvSpPr>
          <p:cNvPr id="19" name="Shape 17"/>
          <p:cNvSpPr/>
          <p:nvPr/>
        </p:nvSpPr>
        <p:spPr>
          <a:xfrm>
            <a:off x="5257800" y="2103120"/>
            <a:ext cx="1005840" cy="640080"/>
          </a:xfrm>
          <a:prstGeom prst="chevron">
            <a:avLst/>
          </a:prstGeom>
          <a:solidFill>
            <a:srgbClr val="38BDF8"/>
          </a:solidFill>
          <a:ln w="12700">
            <a:solidFill>
              <a:srgbClr val="38BDF8"/>
            </a:solidFill>
            <a:prstDash val="solid"/>
          </a:ln>
        </p:spPr>
        <p:txBody>
          <a:bodyPr/>
          <a:lstStyle/>
          <a:p>
            <a:endParaRPr lang="en-US"/>
          </a:p>
        </p:txBody>
      </p:sp>
      <p:sp>
        <p:nvSpPr>
          <p:cNvPr id="20" name="Shape 18"/>
          <p:cNvSpPr/>
          <p:nvPr/>
        </p:nvSpPr>
        <p:spPr>
          <a:xfrm>
            <a:off x="914400" y="3886200"/>
            <a:ext cx="10332720" cy="1234440"/>
          </a:xfrm>
          <a:prstGeom prst="roundRect">
            <a:avLst>
              <a:gd name="adj" fmla="val 11852"/>
            </a:avLst>
          </a:prstGeom>
          <a:solidFill>
            <a:srgbClr val="1E293B">
              <a:alpha val="94000"/>
            </a:srgbClr>
          </a:solidFill>
          <a:ln w="12700">
            <a:solidFill>
              <a:srgbClr val="334155">
                <a:alpha val="75000"/>
              </a:srgbClr>
            </a:solidFill>
            <a:prstDash val="solid"/>
          </a:ln>
        </p:spPr>
        <p:txBody>
          <a:bodyPr/>
          <a:lstStyle/>
          <a:p>
            <a:endParaRPr lang="en-US"/>
          </a:p>
        </p:txBody>
      </p:sp>
      <p:sp>
        <p:nvSpPr>
          <p:cNvPr id="21" name="Shape 19"/>
          <p:cNvSpPr/>
          <p:nvPr/>
        </p:nvSpPr>
        <p:spPr>
          <a:xfrm>
            <a:off x="914400" y="3886200"/>
            <a:ext cx="54864" cy="1234440"/>
          </a:xfrm>
          <a:prstGeom prst="rect">
            <a:avLst/>
          </a:prstGeom>
          <a:solidFill>
            <a:srgbClr val="38BDF8"/>
          </a:solidFill>
          <a:ln w="12700">
            <a:solidFill>
              <a:srgbClr val="38BDF8"/>
            </a:solidFill>
            <a:prstDash val="solid"/>
          </a:ln>
        </p:spPr>
        <p:txBody>
          <a:bodyPr/>
          <a:lstStyle/>
          <a:p>
            <a:endParaRPr lang="en-US"/>
          </a:p>
        </p:txBody>
      </p:sp>
      <p:sp>
        <p:nvSpPr>
          <p:cNvPr id="22" name="Text 20"/>
          <p:cNvSpPr/>
          <p:nvPr/>
        </p:nvSpPr>
        <p:spPr>
          <a:xfrm>
            <a:off x="1115568" y="4050792"/>
            <a:ext cx="996696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Main research/reproduction question</a:t>
            </a:r>
            <a:endParaRPr lang="en-US" sz="1300" dirty="0"/>
          </a:p>
        </p:txBody>
      </p:sp>
      <p:sp>
        <p:nvSpPr>
          <p:cNvPr id="23" name="Text 21"/>
          <p:cNvSpPr/>
          <p:nvPr/>
        </p:nvSpPr>
        <p:spPr>
          <a:xfrm>
            <a:off x="1115568" y="4416552"/>
            <a:ext cx="9966960" cy="57607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Can the original R-based credit risk analysis be reproduced in Python in a way that is understandable, documented, and runnable by another user?</a:t>
            </a:r>
            <a:endParaRPr lang="en-US" sz="1050" dirty="0"/>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Dataset Overview</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822960" y="1325880"/>
            <a:ext cx="2514600" cy="1188720"/>
          </a:xfrm>
          <a:prstGeom prst="roundRect">
            <a:avLst>
              <a:gd name="adj" fmla="val 12308"/>
            </a:avLst>
          </a:prstGeom>
          <a:solidFill>
            <a:srgbClr val="1E293B">
              <a:alpha val="95000"/>
            </a:srgbClr>
          </a:solidFill>
          <a:ln w="12700">
            <a:solidFill>
              <a:srgbClr val="334155">
                <a:alpha val="85000"/>
              </a:srgbClr>
            </a:solidFill>
            <a:prstDash val="solid"/>
          </a:ln>
        </p:spPr>
        <p:txBody>
          <a:bodyPr/>
          <a:lstStyle/>
          <a:p>
            <a:endParaRPr lang="en-US"/>
          </a:p>
        </p:txBody>
      </p:sp>
      <p:sp>
        <p:nvSpPr>
          <p:cNvPr id="6" name="Text 4"/>
          <p:cNvSpPr/>
          <p:nvPr/>
        </p:nvSpPr>
        <p:spPr>
          <a:xfrm>
            <a:off x="914400" y="1490472"/>
            <a:ext cx="2331720" cy="347472"/>
          </a:xfrm>
          <a:prstGeom prst="rect">
            <a:avLst/>
          </a:prstGeom>
          <a:noFill/>
          <a:ln/>
        </p:spPr>
        <p:txBody>
          <a:bodyPr wrap="square" rtlCol="0" anchor="ctr"/>
          <a:lstStyle/>
          <a:p>
            <a:pPr marL="0" indent="0">
              <a:buNone/>
            </a:pPr>
            <a:r>
              <a:rPr lang="en-US" sz="2500" b="1" dirty="0">
                <a:solidFill>
                  <a:srgbClr val="38BDF8"/>
                </a:solidFill>
                <a:latin typeface="Aptos Display" pitchFamily="34" charset="0"/>
                <a:ea typeface="Aptos Display" pitchFamily="34" charset="-122"/>
                <a:cs typeface="Aptos Display" pitchFamily="34" charset="-120"/>
              </a:rPr>
              <a:t>45,000</a:t>
            </a:r>
            <a:endParaRPr lang="en-US" sz="2500" dirty="0"/>
          </a:p>
        </p:txBody>
      </p:sp>
      <p:sp>
        <p:nvSpPr>
          <p:cNvPr id="7" name="Text 5"/>
          <p:cNvSpPr/>
          <p:nvPr/>
        </p:nvSpPr>
        <p:spPr>
          <a:xfrm>
            <a:off x="932688" y="1984248"/>
            <a:ext cx="229514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observations / rows</a:t>
            </a:r>
            <a:endParaRPr lang="en-US" sz="950" dirty="0"/>
          </a:p>
        </p:txBody>
      </p:sp>
      <p:sp>
        <p:nvSpPr>
          <p:cNvPr id="8" name="Shape 6"/>
          <p:cNvSpPr/>
          <p:nvPr/>
        </p:nvSpPr>
        <p:spPr>
          <a:xfrm>
            <a:off x="3611880" y="1325880"/>
            <a:ext cx="2514600" cy="1188720"/>
          </a:xfrm>
          <a:prstGeom prst="roundRect">
            <a:avLst>
              <a:gd name="adj" fmla="val 12308"/>
            </a:avLst>
          </a:prstGeom>
          <a:solidFill>
            <a:srgbClr val="1E293B">
              <a:alpha val="95000"/>
            </a:srgbClr>
          </a:solidFill>
          <a:ln w="12700">
            <a:solidFill>
              <a:srgbClr val="334155">
                <a:alpha val="85000"/>
              </a:srgbClr>
            </a:solidFill>
            <a:prstDash val="solid"/>
          </a:ln>
        </p:spPr>
        <p:txBody>
          <a:bodyPr/>
          <a:lstStyle/>
          <a:p>
            <a:endParaRPr lang="en-US"/>
          </a:p>
        </p:txBody>
      </p:sp>
      <p:sp>
        <p:nvSpPr>
          <p:cNvPr id="9" name="Text 7"/>
          <p:cNvSpPr/>
          <p:nvPr/>
        </p:nvSpPr>
        <p:spPr>
          <a:xfrm>
            <a:off x="3703320" y="1490472"/>
            <a:ext cx="2331720" cy="347472"/>
          </a:xfrm>
          <a:prstGeom prst="rect">
            <a:avLst/>
          </a:prstGeom>
          <a:noFill/>
          <a:ln/>
        </p:spPr>
        <p:txBody>
          <a:bodyPr wrap="square" rtlCol="0" anchor="ctr"/>
          <a:lstStyle/>
          <a:p>
            <a:pPr marL="0" indent="0">
              <a:buNone/>
            </a:pPr>
            <a:r>
              <a:rPr lang="en-US" sz="2500" b="1" dirty="0">
                <a:solidFill>
                  <a:srgbClr val="22C55E"/>
                </a:solidFill>
                <a:latin typeface="Aptos Display" pitchFamily="34" charset="0"/>
                <a:ea typeface="Aptos Display" pitchFamily="34" charset="-122"/>
                <a:cs typeface="Aptos Display" pitchFamily="34" charset="-120"/>
              </a:rPr>
              <a:t>14</a:t>
            </a:r>
            <a:endParaRPr lang="en-US" sz="2500" dirty="0"/>
          </a:p>
        </p:txBody>
      </p:sp>
      <p:sp>
        <p:nvSpPr>
          <p:cNvPr id="10" name="Text 8"/>
          <p:cNvSpPr/>
          <p:nvPr/>
        </p:nvSpPr>
        <p:spPr>
          <a:xfrm>
            <a:off x="3721608" y="1984248"/>
            <a:ext cx="229514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variables / columns</a:t>
            </a:r>
            <a:endParaRPr lang="en-US" sz="950" dirty="0"/>
          </a:p>
        </p:txBody>
      </p:sp>
      <p:sp>
        <p:nvSpPr>
          <p:cNvPr id="11" name="Shape 9"/>
          <p:cNvSpPr/>
          <p:nvPr/>
        </p:nvSpPr>
        <p:spPr>
          <a:xfrm>
            <a:off x="6400800" y="1325880"/>
            <a:ext cx="2514600" cy="1188720"/>
          </a:xfrm>
          <a:prstGeom prst="roundRect">
            <a:avLst>
              <a:gd name="adj" fmla="val 12308"/>
            </a:avLst>
          </a:prstGeom>
          <a:solidFill>
            <a:srgbClr val="1E293B">
              <a:alpha val="95000"/>
            </a:srgbClr>
          </a:solidFill>
          <a:ln w="12700">
            <a:solidFill>
              <a:srgbClr val="334155">
                <a:alpha val="85000"/>
              </a:srgbClr>
            </a:solidFill>
            <a:prstDash val="solid"/>
          </a:ln>
        </p:spPr>
        <p:txBody>
          <a:bodyPr/>
          <a:lstStyle/>
          <a:p>
            <a:endParaRPr lang="en-US"/>
          </a:p>
        </p:txBody>
      </p:sp>
      <p:sp>
        <p:nvSpPr>
          <p:cNvPr id="12" name="Text 10"/>
          <p:cNvSpPr/>
          <p:nvPr/>
        </p:nvSpPr>
        <p:spPr>
          <a:xfrm>
            <a:off x="6492240" y="1490472"/>
            <a:ext cx="2331720" cy="347472"/>
          </a:xfrm>
          <a:prstGeom prst="rect">
            <a:avLst/>
          </a:prstGeom>
          <a:noFill/>
          <a:ln/>
        </p:spPr>
        <p:txBody>
          <a:bodyPr wrap="square" rtlCol="0" anchor="ctr"/>
          <a:lstStyle/>
          <a:p>
            <a:pPr marL="0" indent="0">
              <a:buNone/>
            </a:pPr>
            <a:r>
              <a:rPr lang="en-US" sz="2500" b="1" dirty="0">
                <a:solidFill>
                  <a:srgbClr val="F59E0B"/>
                </a:solidFill>
                <a:latin typeface="Aptos Display" pitchFamily="34" charset="0"/>
                <a:ea typeface="Aptos Display" pitchFamily="34" charset="-122"/>
                <a:cs typeface="Aptos Display" pitchFamily="34" charset="-120"/>
              </a:rPr>
              <a:t>0</a:t>
            </a:r>
            <a:endParaRPr lang="en-US" sz="2500" dirty="0"/>
          </a:p>
        </p:txBody>
      </p:sp>
      <p:sp>
        <p:nvSpPr>
          <p:cNvPr id="13" name="Text 11"/>
          <p:cNvSpPr/>
          <p:nvPr/>
        </p:nvSpPr>
        <p:spPr>
          <a:xfrm>
            <a:off x="6510528" y="1984248"/>
            <a:ext cx="229514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missing values at loading</a:t>
            </a:r>
            <a:endParaRPr lang="en-US" sz="950" dirty="0"/>
          </a:p>
        </p:txBody>
      </p:sp>
      <p:sp>
        <p:nvSpPr>
          <p:cNvPr id="14" name="Shape 12"/>
          <p:cNvSpPr/>
          <p:nvPr/>
        </p:nvSpPr>
        <p:spPr>
          <a:xfrm>
            <a:off x="9189720" y="1325880"/>
            <a:ext cx="2240280" cy="1188720"/>
          </a:xfrm>
          <a:prstGeom prst="roundRect">
            <a:avLst>
              <a:gd name="adj" fmla="val 12308"/>
            </a:avLst>
          </a:prstGeom>
          <a:solidFill>
            <a:srgbClr val="1E293B">
              <a:alpha val="95000"/>
            </a:srgbClr>
          </a:solidFill>
          <a:ln w="12700">
            <a:solidFill>
              <a:srgbClr val="334155">
                <a:alpha val="85000"/>
              </a:srgbClr>
            </a:solidFill>
            <a:prstDash val="solid"/>
          </a:ln>
        </p:spPr>
        <p:txBody>
          <a:bodyPr/>
          <a:lstStyle/>
          <a:p>
            <a:endParaRPr lang="en-US"/>
          </a:p>
        </p:txBody>
      </p:sp>
      <p:sp>
        <p:nvSpPr>
          <p:cNvPr id="15" name="Text 13"/>
          <p:cNvSpPr/>
          <p:nvPr/>
        </p:nvSpPr>
        <p:spPr>
          <a:xfrm>
            <a:off x="9281160" y="1490472"/>
            <a:ext cx="2057400" cy="347472"/>
          </a:xfrm>
          <a:prstGeom prst="rect">
            <a:avLst/>
          </a:prstGeom>
          <a:noFill/>
          <a:ln/>
        </p:spPr>
        <p:txBody>
          <a:bodyPr wrap="square" rtlCol="0" anchor="ctr"/>
          <a:lstStyle/>
          <a:p>
            <a:pPr marL="0" indent="0">
              <a:buNone/>
            </a:pPr>
            <a:r>
              <a:rPr lang="en-US" sz="2500" b="1" dirty="0">
                <a:solidFill>
                  <a:srgbClr val="A78BFA"/>
                </a:solidFill>
                <a:latin typeface="Aptos Display" pitchFamily="34" charset="0"/>
                <a:ea typeface="Aptos Display" pitchFamily="34" charset="-122"/>
                <a:cs typeface="Aptos Display" pitchFamily="34" charset="-120"/>
              </a:rPr>
              <a:t>22.2%</a:t>
            </a:r>
            <a:endParaRPr lang="en-US" sz="2500" dirty="0"/>
          </a:p>
        </p:txBody>
      </p:sp>
      <p:sp>
        <p:nvSpPr>
          <p:cNvPr id="16" name="Text 14"/>
          <p:cNvSpPr/>
          <p:nvPr/>
        </p:nvSpPr>
        <p:spPr>
          <a:xfrm>
            <a:off x="9299448" y="1984248"/>
            <a:ext cx="202082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positive loan_status</a:t>
            </a:r>
            <a:endParaRPr lang="en-US" sz="950" dirty="0"/>
          </a:p>
        </p:txBody>
      </p:sp>
      <p:sp>
        <p:nvSpPr>
          <p:cNvPr id="17" name="Shape 15"/>
          <p:cNvSpPr/>
          <p:nvPr/>
        </p:nvSpPr>
        <p:spPr>
          <a:xfrm>
            <a:off x="822960" y="2971800"/>
            <a:ext cx="5074920" cy="1600200"/>
          </a:xfrm>
          <a:prstGeom prst="roundRect">
            <a:avLst>
              <a:gd name="adj" fmla="val 9143"/>
            </a:avLst>
          </a:prstGeom>
          <a:solidFill>
            <a:srgbClr val="1E293B">
              <a:alpha val="94000"/>
            </a:srgbClr>
          </a:solidFill>
          <a:ln w="12700">
            <a:solidFill>
              <a:srgbClr val="334155">
                <a:alpha val="75000"/>
              </a:srgbClr>
            </a:solidFill>
            <a:prstDash val="solid"/>
          </a:ln>
        </p:spPr>
        <p:txBody>
          <a:bodyPr/>
          <a:lstStyle/>
          <a:p>
            <a:endParaRPr lang="en-US"/>
          </a:p>
        </p:txBody>
      </p:sp>
      <p:sp>
        <p:nvSpPr>
          <p:cNvPr id="18" name="Shape 16"/>
          <p:cNvSpPr/>
          <p:nvPr/>
        </p:nvSpPr>
        <p:spPr>
          <a:xfrm>
            <a:off x="822960" y="2971800"/>
            <a:ext cx="54864" cy="1600200"/>
          </a:xfrm>
          <a:prstGeom prst="rect">
            <a:avLst/>
          </a:prstGeom>
          <a:solidFill>
            <a:srgbClr val="38BDF8"/>
          </a:solidFill>
          <a:ln w="12700">
            <a:solidFill>
              <a:srgbClr val="38BDF8"/>
            </a:solidFill>
            <a:prstDash val="solid"/>
          </a:ln>
        </p:spPr>
        <p:txBody>
          <a:bodyPr/>
          <a:lstStyle/>
          <a:p>
            <a:endParaRPr lang="en-US"/>
          </a:p>
        </p:txBody>
      </p:sp>
      <p:sp>
        <p:nvSpPr>
          <p:cNvPr id="19" name="Text 17"/>
          <p:cNvSpPr/>
          <p:nvPr/>
        </p:nvSpPr>
        <p:spPr>
          <a:xfrm>
            <a:off x="1024128" y="3136392"/>
            <a:ext cx="470916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Main variable groups</a:t>
            </a:r>
            <a:endParaRPr lang="en-US" sz="1300" dirty="0"/>
          </a:p>
        </p:txBody>
      </p:sp>
      <p:sp>
        <p:nvSpPr>
          <p:cNvPr id="20" name="Text 18"/>
          <p:cNvSpPr/>
          <p:nvPr/>
        </p:nvSpPr>
        <p:spPr>
          <a:xfrm>
            <a:off x="1024128" y="3502152"/>
            <a:ext cx="4709160" cy="94183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Applicant profile: age, gender, education, income, employment experience</a:t>
            </a:r>
            <a:endParaRPr lang="en-US" sz="1050" dirty="0"/>
          </a:p>
          <a:p>
            <a:pPr marL="0" indent="0">
              <a:buNone/>
            </a:pPr>
            <a:r>
              <a:rPr lang="en-US" sz="1050" dirty="0">
                <a:solidFill>
                  <a:srgbClr val="CBD5E1"/>
                </a:solidFill>
                <a:latin typeface="Aptos" pitchFamily="34" charset="0"/>
                <a:ea typeface="Aptos" pitchFamily="34" charset="-122"/>
                <a:cs typeface="Aptos" pitchFamily="34" charset="-120"/>
              </a:rPr>
              <a:t>Loan details: amount, intent, interest rate, percent income</a:t>
            </a:r>
            <a:endParaRPr lang="en-US" sz="1050" dirty="0"/>
          </a:p>
          <a:p>
            <a:pPr marL="0" indent="0">
              <a:buNone/>
            </a:pPr>
            <a:r>
              <a:rPr lang="en-US" sz="1050" dirty="0">
                <a:solidFill>
                  <a:srgbClr val="CBD5E1"/>
                </a:solidFill>
                <a:latin typeface="Aptos" pitchFamily="34" charset="0"/>
                <a:ea typeface="Aptos" pitchFamily="34" charset="-122"/>
                <a:cs typeface="Aptos" pitchFamily="34" charset="-120"/>
              </a:rPr>
              <a:t>Credit history: credit score, history length, previous defaults</a:t>
            </a:r>
            <a:endParaRPr lang="en-US" sz="1050" dirty="0"/>
          </a:p>
        </p:txBody>
      </p:sp>
      <p:sp>
        <p:nvSpPr>
          <p:cNvPr id="21" name="Shape 19"/>
          <p:cNvSpPr/>
          <p:nvPr/>
        </p:nvSpPr>
        <p:spPr>
          <a:xfrm>
            <a:off x="6172200" y="2971800"/>
            <a:ext cx="5257800" cy="1600200"/>
          </a:xfrm>
          <a:prstGeom prst="roundRect">
            <a:avLst>
              <a:gd name="adj" fmla="val 9143"/>
            </a:avLst>
          </a:prstGeom>
          <a:solidFill>
            <a:srgbClr val="1E293B">
              <a:alpha val="94000"/>
            </a:srgbClr>
          </a:solidFill>
          <a:ln w="12700">
            <a:solidFill>
              <a:srgbClr val="334155">
                <a:alpha val="75000"/>
              </a:srgbClr>
            </a:solidFill>
            <a:prstDash val="solid"/>
          </a:ln>
        </p:spPr>
        <p:txBody>
          <a:bodyPr/>
          <a:lstStyle/>
          <a:p>
            <a:endParaRPr lang="en-US"/>
          </a:p>
        </p:txBody>
      </p:sp>
      <p:sp>
        <p:nvSpPr>
          <p:cNvPr id="22" name="Shape 20"/>
          <p:cNvSpPr/>
          <p:nvPr/>
        </p:nvSpPr>
        <p:spPr>
          <a:xfrm>
            <a:off x="6172200" y="2971800"/>
            <a:ext cx="54864" cy="1600200"/>
          </a:xfrm>
          <a:prstGeom prst="rect">
            <a:avLst/>
          </a:prstGeom>
          <a:solidFill>
            <a:srgbClr val="22C55E"/>
          </a:solidFill>
          <a:ln w="12700">
            <a:solidFill>
              <a:srgbClr val="22C55E"/>
            </a:solidFill>
            <a:prstDash val="solid"/>
          </a:ln>
        </p:spPr>
        <p:txBody>
          <a:bodyPr/>
          <a:lstStyle/>
          <a:p>
            <a:endParaRPr lang="en-US"/>
          </a:p>
        </p:txBody>
      </p:sp>
      <p:sp>
        <p:nvSpPr>
          <p:cNvPr id="23" name="Text 21"/>
          <p:cNvSpPr/>
          <p:nvPr/>
        </p:nvSpPr>
        <p:spPr>
          <a:xfrm>
            <a:off x="6373368" y="3136392"/>
            <a:ext cx="489204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Target variable</a:t>
            </a:r>
            <a:endParaRPr lang="en-US" sz="1300" dirty="0"/>
          </a:p>
        </p:txBody>
      </p:sp>
      <p:sp>
        <p:nvSpPr>
          <p:cNvPr id="24" name="Text 22"/>
          <p:cNvSpPr/>
          <p:nvPr/>
        </p:nvSpPr>
        <p:spPr>
          <a:xfrm>
            <a:off x="6373368" y="3502152"/>
            <a:ext cx="4892040" cy="94183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`loan_status` is the classification target. The project predicts whether an applicant belongs to class 0 or class 1 based on borrower and loan characteristics.</a:t>
            </a:r>
            <a:endParaRPr lang="en-US" sz="1050" dirty="0"/>
          </a:p>
        </p:txBody>
      </p:sp>
      <p:sp>
        <p:nvSpPr>
          <p:cNvPr id="25" name="Text 23"/>
          <p:cNvSpPr/>
          <p:nvPr/>
        </p:nvSpPr>
        <p:spPr>
          <a:xfrm>
            <a:off x="1005840" y="5212080"/>
            <a:ext cx="10149840" cy="274320"/>
          </a:xfrm>
          <a:prstGeom prst="rect">
            <a:avLst/>
          </a:prstGeom>
          <a:noFill/>
          <a:ln/>
        </p:spPr>
        <p:txBody>
          <a:bodyPr wrap="square" rtlCol="0" anchor="ctr"/>
          <a:lstStyle/>
          <a:p>
            <a:pPr marL="0" indent="0" algn="ctr">
              <a:buNone/>
            </a:pPr>
            <a:r>
              <a:rPr lang="en-US" sz="1250" dirty="0">
                <a:solidFill>
                  <a:srgbClr val="94A3B8"/>
                </a:solidFill>
              </a:rPr>
              <a:t>The terminal run confirmed that the project loads the dataset successfully and detects the expected columns.</a:t>
            </a:r>
            <a:endParaRPr lang="en-US" sz="1250" dirty="0"/>
          </a:p>
        </p:txBody>
      </p:sp>
      <p:sp>
        <p:nvSpPr>
          <p:cNvPr id="26"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Reproduction Process</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777240" y="1417320"/>
            <a:ext cx="3337560" cy="1005840"/>
          </a:xfrm>
          <a:prstGeom prst="roundRect">
            <a:avLst>
              <a:gd name="adj" fmla="val 10909"/>
            </a:avLst>
          </a:prstGeom>
          <a:solidFill>
            <a:srgbClr val="1E293B">
              <a:alpha val="96000"/>
            </a:srgbClr>
          </a:solidFill>
          <a:ln w="12700">
            <a:solidFill>
              <a:srgbClr val="334155"/>
            </a:solidFill>
            <a:prstDash val="solid"/>
          </a:ln>
        </p:spPr>
        <p:txBody>
          <a:bodyPr/>
          <a:lstStyle/>
          <a:p>
            <a:endParaRPr lang="en-US"/>
          </a:p>
        </p:txBody>
      </p:sp>
      <p:sp>
        <p:nvSpPr>
          <p:cNvPr id="6" name="Shape 4"/>
          <p:cNvSpPr/>
          <p:nvPr/>
        </p:nvSpPr>
        <p:spPr>
          <a:xfrm>
            <a:off x="978408" y="1645920"/>
            <a:ext cx="530352" cy="530352"/>
          </a:xfrm>
          <a:prstGeom prst="ellipse">
            <a:avLst/>
          </a:prstGeom>
          <a:solidFill>
            <a:srgbClr val="38BDF8"/>
          </a:solidFill>
          <a:ln w="12700">
            <a:solidFill>
              <a:srgbClr val="38BDF8"/>
            </a:solidFill>
            <a:prstDash val="solid"/>
          </a:ln>
        </p:spPr>
        <p:txBody>
          <a:bodyPr/>
          <a:lstStyle/>
          <a:p>
            <a:endParaRPr lang="en-US"/>
          </a:p>
        </p:txBody>
      </p:sp>
      <p:sp>
        <p:nvSpPr>
          <p:cNvPr id="7" name="Text 5"/>
          <p:cNvSpPr/>
          <p:nvPr/>
        </p:nvSpPr>
        <p:spPr>
          <a:xfrm>
            <a:off x="978408" y="1773936"/>
            <a:ext cx="530352" cy="128016"/>
          </a:xfrm>
          <a:prstGeom prst="rect">
            <a:avLst/>
          </a:prstGeom>
          <a:noFill/>
          <a:ln/>
        </p:spPr>
        <p:txBody>
          <a:bodyPr wrap="square" rtlCol="0" anchor="ctr"/>
          <a:lstStyle/>
          <a:p>
            <a:pPr marL="0" indent="0" algn="ctr">
              <a:buNone/>
            </a:pPr>
            <a:r>
              <a:rPr lang="en-US" sz="1000" b="1" dirty="0">
                <a:solidFill>
                  <a:srgbClr val="FFFFFF"/>
                </a:solidFill>
              </a:rPr>
              <a:t>1</a:t>
            </a:r>
            <a:endParaRPr lang="en-US" sz="1000" dirty="0"/>
          </a:p>
        </p:txBody>
      </p:sp>
      <p:sp>
        <p:nvSpPr>
          <p:cNvPr id="8" name="Text 6"/>
          <p:cNvSpPr/>
          <p:nvPr/>
        </p:nvSpPr>
        <p:spPr>
          <a:xfrm>
            <a:off x="1645920" y="1700784"/>
            <a:ext cx="2240280" cy="411480"/>
          </a:xfrm>
          <a:prstGeom prst="rect">
            <a:avLst/>
          </a:prstGeom>
          <a:noFill/>
          <a:ln/>
        </p:spPr>
        <p:txBody>
          <a:bodyPr wrap="square" rtlCol="0" anchor="ctr">
            <a:normAutofit/>
          </a:bodyPr>
          <a:lstStyle/>
          <a:p>
            <a:pPr marL="0" indent="0">
              <a:buNone/>
            </a:pPr>
            <a:r>
              <a:rPr lang="en-US" sz="1250" b="1" dirty="0">
                <a:solidFill>
                  <a:srgbClr val="F8FAFC"/>
                </a:solidFill>
              </a:rPr>
              <a:t>Read original R workflow</a:t>
            </a:r>
            <a:endParaRPr lang="en-US" sz="1250" dirty="0"/>
          </a:p>
        </p:txBody>
      </p:sp>
      <p:sp>
        <p:nvSpPr>
          <p:cNvPr id="9" name="Shape 7"/>
          <p:cNvSpPr/>
          <p:nvPr/>
        </p:nvSpPr>
        <p:spPr>
          <a:xfrm>
            <a:off x="4572000" y="1417320"/>
            <a:ext cx="3337560" cy="1005840"/>
          </a:xfrm>
          <a:prstGeom prst="roundRect">
            <a:avLst>
              <a:gd name="adj" fmla="val 10909"/>
            </a:avLst>
          </a:prstGeom>
          <a:solidFill>
            <a:srgbClr val="1E293B">
              <a:alpha val="96000"/>
            </a:srgbClr>
          </a:solidFill>
          <a:ln w="12700">
            <a:solidFill>
              <a:srgbClr val="334155"/>
            </a:solidFill>
            <a:prstDash val="solid"/>
          </a:ln>
        </p:spPr>
        <p:txBody>
          <a:bodyPr/>
          <a:lstStyle/>
          <a:p>
            <a:endParaRPr lang="en-US"/>
          </a:p>
        </p:txBody>
      </p:sp>
      <p:sp>
        <p:nvSpPr>
          <p:cNvPr id="10" name="Shape 8"/>
          <p:cNvSpPr/>
          <p:nvPr/>
        </p:nvSpPr>
        <p:spPr>
          <a:xfrm>
            <a:off x="4773168" y="1645920"/>
            <a:ext cx="530352" cy="530352"/>
          </a:xfrm>
          <a:prstGeom prst="ellipse">
            <a:avLst/>
          </a:prstGeom>
          <a:solidFill>
            <a:srgbClr val="38BDF8"/>
          </a:solidFill>
          <a:ln w="12700">
            <a:solidFill>
              <a:srgbClr val="38BDF8"/>
            </a:solidFill>
            <a:prstDash val="solid"/>
          </a:ln>
        </p:spPr>
        <p:txBody>
          <a:bodyPr/>
          <a:lstStyle/>
          <a:p>
            <a:endParaRPr lang="en-US"/>
          </a:p>
        </p:txBody>
      </p:sp>
      <p:sp>
        <p:nvSpPr>
          <p:cNvPr id="11" name="Text 9"/>
          <p:cNvSpPr/>
          <p:nvPr/>
        </p:nvSpPr>
        <p:spPr>
          <a:xfrm>
            <a:off x="4773168" y="1773936"/>
            <a:ext cx="530352" cy="128016"/>
          </a:xfrm>
          <a:prstGeom prst="rect">
            <a:avLst/>
          </a:prstGeom>
          <a:noFill/>
          <a:ln/>
        </p:spPr>
        <p:txBody>
          <a:bodyPr wrap="square" rtlCol="0" anchor="ctr"/>
          <a:lstStyle/>
          <a:p>
            <a:pPr marL="0" indent="0" algn="ctr">
              <a:buNone/>
            </a:pPr>
            <a:r>
              <a:rPr lang="en-US" sz="1000" b="1" dirty="0">
                <a:solidFill>
                  <a:srgbClr val="FFFFFF"/>
                </a:solidFill>
              </a:rPr>
              <a:t>2</a:t>
            </a:r>
            <a:endParaRPr lang="en-US" sz="1000" dirty="0"/>
          </a:p>
        </p:txBody>
      </p:sp>
      <p:sp>
        <p:nvSpPr>
          <p:cNvPr id="12" name="Text 10"/>
          <p:cNvSpPr/>
          <p:nvPr/>
        </p:nvSpPr>
        <p:spPr>
          <a:xfrm>
            <a:off x="5440680" y="1700784"/>
            <a:ext cx="2240280" cy="411480"/>
          </a:xfrm>
          <a:prstGeom prst="rect">
            <a:avLst/>
          </a:prstGeom>
          <a:noFill/>
          <a:ln/>
        </p:spPr>
        <p:txBody>
          <a:bodyPr wrap="square" rtlCol="0" anchor="ctr">
            <a:normAutofit fontScale="92500" lnSpcReduction="20000"/>
          </a:bodyPr>
          <a:lstStyle/>
          <a:p>
            <a:pPr marL="0" indent="0">
              <a:buNone/>
            </a:pPr>
            <a:r>
              <a:rPr lang="en-US" sz="1250" b="1" dirty="0">
                <a:solidFill>
                  <a:srgbClr val="F8FAFC"/>
                </a:solidFill>
              </a:rPr>
              <a:t>Translate data loading and EDA</a:t>
            </a:r>
            <a:endParaRPr lang="en-US" sz="1250" dirty="0"/>
          </a:p>
        </p:txBody>
      </p:sp>
      <p:sp>
        <p:nvSpPr>
          <p:cNvPr id="13" name="Shape 11"/>
          <p:cNvSpPr/>
          <p:nvPr/>
        </p:nvSpPr>
        <p:spPr>
          <a:xfrm>
            <a:off x="8366760" y="1417320"/>
            <a:ext cx="3337560" cy="1005840"/>
          </a:xfrm>
          <a:prstGeom prst="roundRect">
            <a:avLst>
              <a:gd name="adj" fmla="val 10909"/>
            </a:avLst>
          </a:prstGeom>
          <a:solidFill>
            <a:srgbClr val="1E293B">
              <a:alpha val="96000"/>
            </a:srgbClr>
          </a:solidFill>
          <a:ln w="12700">
            <a:solidFill>
              <a:srgbClr val="334155"/>
            </a:solidFill>
            <a:prstDash val="solid"/>
          </a:ln>
        </p:spPr>
        <p:txBody>
          <a:bodyPr/>
          <a:lstStyle/>
          <a:p>
            <a:endParaRPr lang="en-US"/>
          </a:p>
        </p:txBody>
      </p:sp>
      <p:sp>
        <p:nvSpPr>
          <p:cNvPr id="14" name="Shape 12"/>
          <p:cNvSpPr/>
          <p:nvPr/>
        </p:nvSpPr>
        <p:spPr>
          <a:xfrm>
            <a:off x="8567928" y="1645920"/>
            <a:ext cx="530352" cy="530352"/>
          </a:xfrm>
          <a:prstGeom prst="ellipse">
            <a:avLst/>
          </a:prstGeom>
          <a:solidFill>
            <a:srgbClr val="38BDF8"/>
          </a:solidFill>
          <a:ln w="12700">
            <a:solidFill>
              <a:srgbClr val="38BDF8"/>
            </a:solidFill>
            <a:prstDash val="solid"/>
          </a:ln>
        </p:spPr>
        <p:txBody>
          <a:bodyPr/>
          <a:lstStyle/>
          <a:p>
            <a:endParaRPr lang="en-US"/>
          </a:p>
        </p:txBody>
      </p:sp>
      <p:sp>
        <p:nvSpPr>
          <p:cNvPr id="15" name="Text 13"/>
          <p:cNvSpPr/>
          <p:nvPr/>
        </p:nvSpPr>
        <p:spPr>
          <a:xfrm>
            <a:off x="8567928" y="1773936"/>
            <a:ext cx="530352" cy="128016"/>
          </a:xfrm>
          <a:prstGeom prst="rect">
            <a:avLst/>
          </a:prstGeom>
          <a:noFill/>
          <a:ln/>
        </p:spPr>
        <p:txBody>
          <a:bodyPr wrap="square" rtlCol="0" anchor="ctr"/>
          <a:lstStyle/>
          <a:p>
            <a:pPr marL="0" indent="0" algn="ctr">
              <a:buNone/>
            </a:pPr>
            <a:r>
              <a:rPr lang="en-US" sz="1000" b="1" dirty="0">
                <a:solidFill>
                  <a:srgbClr val="FFFFFF"/>
                </a:solidFill>
              </a:rPr>
              <a:t>3</a:t>
            </a:r>
            <a:endParaRPr lang="en-US" sz="1000" dirty="0"/>
          </a:p>
        </p:txBody>
      </p:sp>
      <p:sp>
        <p:nvSpPr>
          <p:cNvPr id="16" name="Text 14"/>
          <p:cNvSpPr/>
          <p:nvPr/>
        </p:nvSpPr>
        <p:spPr>
          <a:xfrm>
            <a:off x="9235440" y="1700784"/>
            <a:ext cx="2240280" cy="411480"/>
          </a:xfrm>
          <a:prstGeom prst="rect">
            <a:avLst/>
          </a:prstGeom>
          <a:noFill/>
          <a:ln/>
        </p:spPr>
        <p:txBody>
          <a:bodyPr wrap="square" rtlCol="0" anchor="ctr">
            <a:normAutofit/>
          </a:bodyPr>
          <a:lstStyle/>
          <a:p>
            <a:pPr marL="0" indent="0">
              <a:buNone/>
            </a:pPr>
            <a:r>
              <a:rPr lang="en-US" sz="1250" b="1" dirty="0">
                <a:solidFill>
                  <a:srgbClr val="F8FAFC"/>
                </a:solidFill>
              </a:rPr>
              <a:t>Recreate visualizations</a:t>
            </a:r>
            <a:endParaRPr lang="en-US" sz="1250" dirty="0"/>
          </a:p>
        </p:txBody>
      </p:sp>
      <p:sp>
        <p:nvSpPr>
          <p:cNvPr id="17" name="Shape 15"/>
          <p:cNvSpPr/>
          <p:nvPr/>
        </p:nvSpPr>
        <p:spPr>
          <a:xfrm>
            <a:off x="777240" y="2926080"/>
            <a:ext cx="3337560" cy="1005840"/>
          </a:xfrm>
          <a:prstGeom prst="roundRect">
            <a:avLst>
              <a:gd name="adj" fmla="val 10909"/>
            </a:avLst>
          </a:prstGeom>
          <a:solidFill>
            <a:srgbClr val="1E293B">
              <a:alpha val="96000"/>
            </a:srgbClr>
          </a:solidFill>
          <a:ln w="12700">
            <a:solidFill>
              <a:srgbClr val="334155"/>
            </a:solidFill>
            <a:prstDash val="solid"/>
          </a:ln>
        </p:spPr>
        <p:txBody>
          <a:bodyPr/>
          <a:lstStyle/>
          <a:p>
            <a:endParaRPr lang="en-US"/>
          </a:p>
        </p:txBody>
      </p:sp>
      <p:sp>
        <p:nvSpPr>
          <p:cNvPr id="18" name="Shape 16"/>
          <p:cNvSpPr/>
          <p:nvPr/>
        </p:nvSpPr>
        <p:spPr>
          <a:xfrm>
            <a:off x="978408" y="3154680"/>
            <a:ext cx="530352" cy="530352"/>
          </a:xfrm>
          <a:prstGeom prst="ellipse">
            <a:avLst/>
          </a:prstGeom>
          <a:solidFill>
            <a:srgbClr val="22C55E"/>
          </a:solidFill>
          <a:ln w="12700">
            <a:solidFill>
              <a:srgbClr val="22C55E"/>
            </a:solidFill>
            <a:prstDash val="solid"/>
          </a:ln>
        </p:spPr>
        <p:txBody>
          <a:bodyPr/>
          <a:lstStyle/>
          <a:p>
            <a:endParaRPr lang="en-US"/>
          </a:p>
        </p:txBody>
      </p:sp>
      <p:sp>
        <p:nvSpPr>
          <p:cNvPr id="19" name="Text 17"/>
          <p:cNvSpPr/>
          <p:nvPr/>
        </p:nvSpPr>
        <p:spPr>
          <a:xfrm>
            <a:off x="978408" y="3282696"/>
            <a:ext cx="530352" cy="128016"/>
          </a:xfrm>
          <a:prstGeom prst="rect">
            <a:avLst/>
          </a:prstGeom>
          <a:noFill/>
          <a:ln/>
        </p:spPr>
        <p:txBody>
          <a:bodyPr wrap="square" rtlCol="0" anchor="ctr"/>
          <a:lstStyle/>
          <a:p>
            <a:pPr marL="0" indent="0" algn="ctr">
              <a:buNone/>
            </a:pPr>
            <a:r>
              <a:rPr lang="en-US" sz="1000" b="1" dirty="0">
                <a:solidFill>
                  <a:srgbClr val="FFFFFF"/>
                </a:solidFill>
              </a:rPr>
              <a:t>4</a:t>
            </a:r>
            <a:endParaRPr lang="en-US" sz="1000" dirty="0"/>
          </a:p>
        </p:txBody>
      </p:sp>
      <p:sp>
        <p:nvSpPr>
          <p:cNvPr id="20" name="Text 18"/>
          <p:cNvSpPr/>
          <p:nvPr/>
        </p:nvSpPr>
        <p:spPr>
          <a:xfrm>
            <a:off x="1645920" y="3209544"/>
            <a:ext cx="2240280" cy="411480"/>
          </a:xfrm>
          <a:prstGeom prst="rect">
            <a:avLst/>
          </a:prstGeom>
          <a:noFill/>
          <a:ln/>
        </p:spPr>
        <p:txBody>
          <a:bodyPr wrap="square" rtlCol="0" anchor="ctr">
            <a:normAutofit fontScale="92500"/>
          </a:bodyPr>
          <a:lstStyle/>
          <a:p>
            <a:pPr marL="0" indent="0">
              <a:buNone/>
            </a:pPr>
            <a:r>
              <a:rPr lang="en-US" sz="1250" b="1" dirty="0">
                <a:solidFill>
                  <a:srgbClr val="F8FAFC"/>
                </a:solidFill>
              </a:rPr>
              <a:t>Adapt cleaning and encoding</a:t>
            </a:r>
            <a:endParaRPr lang="en-US" sz="1250" dirty="0"/>
          </a:p>
        </p:txBody>
      </p:sp>
      <p:sp>
        <p:nvSpPr>
          <p:cNvPr id="21" name="Shape 19"/>
          <p:cNvSpPr/>
          <p:nvPr/>
        </p:nvSpPr>
        <p:spPr>
          <a:xfrm>
            <a:off x="4572000" y="2926080"/>
            <a:ext cx="3337560" cy="1005840"/>
          </a:xfrm>
          <a:prstGeom prst="roundRect">
            <a:avLst>
              <a:gd name="adj" fmla="val 10909"/>
            </a:avLst>
          </a:prstGeom>
          <a:solidFill>
            <a:srgbClr val="1E293B">
              <a:alpha val="96000"/>
            </a:srgbClr>
          </a:solidFill>
          <a:ln w="12700">
            <a:solidFill>
              <a:srgbClr val="334155"/>
            </a:solidFill>
            <a:prstDash val="solid"/>
          </a:ln>
        </p:spPr>
        <p:txBody>
          <a:bodyPr/>
          <a:lstStyle/>
          <a:p>
            <a:endParaRPr lang="en-US"/>
          </a:p>
        </p:txBody>
      </p:sp>
      <p:sp>
        <p:nvSpPr>
          <p:cNvPr id="22" name="Shape 20"/>
          <p:cNvSpPr/>
          <p:nvPr/>
        </p:nvSpPr>
        <p:spPr>
          <a:xfrm>
            <a:off x="4773168" y="3154680"/>
            <a:ext cx="530352" cy="530352"/>
          </a:xfrm>
          <a:prstGeom prst="ellipse">
            <a:avLst/>
          </a:prstGeom>
          <a:solidFill>
            <a:srgbClr val="22C55E"/>
          </a:solidFill>
          <a:ln w="12700">
            <a:solidFill>
              <a:srgbClr val="22C55E"/>
            </a:solidFill>
            <a:prstDash val="solid"/>
          </a:ln>
        </p:spPr>
        <p:txBody>
          <a:bodyPr/>
          <a:lstStyle/>
          <a:p>
            <a:endParaRPr lang="en-US"/>
          </a:p>
        </p:txBody>
      </p:sp>
      <p:sp>
        <p:nvSpPr>
          <p:cNvPr id="23" name="Text 21"/>
          <p:cNvSpPr/>
          <p:nvPr/>
        </p:nvSpPr>
        <p:spPr>
          <a:xfrm>
            <a:off x="4773168" y="3282696"/>
            <a:ext cx="530352" cy="128016"/>
          </a:xfrm>
          <a:prstGeom prst="rect">
            <a:avLst/>
          </a:prstGeom>
          <a:noFill/>
          <a:ln/>
        </p:spPr>
        <p:txBody>
          <a:bodyPr wrap="square" rtlCol="0" anchor="ctr"/>
          <a:lstStyle/>
          <a:p>
            <a:pPr marL="0" indent="0" algn="ctr">
              <a:buNone/>
            </a:pPr>
            <a:r>
              <a:rPr lang="en-US" sz="1000" b="1" dirty="0">
                <a:solidFill>
                  <a:srgbClr val="FFFFFF"/>
                </a:solidFill>
              </a:rPr>
              <a:t>5</a:t>
            </a:r>
            <a:endParaRPr lang="en-US" sz="1000" dirty="0"/>
          </a:p>
        </p:txBody>
      </p:sp>
      <p:sp>
        <p:nvSpPr>
          <p:cNvPr id="24" name="Text 22"/>
          <p:cNvSpPr/>
          <p:nvPr/>
        </p:nvSpPr>
        <p:spPr>
          <a:xfrm>
            <a:off x="5440680" y="3209544"/>
            <a:ext cx="2240280" cy="411480"/>
          </a:xfrm>
          <a:prstGeom prst="rect">
            <a:avLst/>
          </a:prstGeom>
          <a:noFill/>
          <a:ln/>
        </p:spPr>
        <p:txBody>
          <a:bodyPr wrap="square" rtlCol="0" anchor="ctr">
            <a:normAutofit/>
          </a:bodyPr>
          <a:lstStyle/>
          <a:p>
            <a:pPr marL="0" indent="0">
              <a:buNone/>
            </a:pPr>
            <a:r>
              <a:rPr lang="en-US" sz="1250" b="1" dirty="0">
                <a:solidFill>
                  <a:srgbClr val="F8FAFC"/>
                </a:solidFill>
              </a:rPr>
              <a:t>Rebuild models in Python</a:t>
            </a:r>
            <a:endParaRPr lang="en-US" sz="1250" dirty="0"/>
          </a:p>
        </p:txBody>
      </p:sp>
      <p:sp>
        <p:nvSpPr>
          <p:cNvPr id="25" name="Shape 23"/>
          <p:cNvSpPr/>
          <p:nvPr/>
        </p:nvSpPr>
        <p:spPr>
          <a:xfrm>
            <a:off x="8366760" y="2926080"/>
            <a:ext cx="3337560" cy="1005840"/>
          </a:xfrm>
          <a:prstGeom prst="roundRect">
            <a:avLst>
              <a:gd name="adj" fmla="val 10909"/>
            </a:avLst>
          </a:prstGeom>
          <a:solidFill>
            <a:srgbClr val="1E293B">
              <a:alpha val="96000"/>
            </a:srgbClr>
          </a:solidFill>
          <a:ln w="12700">
            <a:solidFill>
              <a:srgbClr val="334155"/>
            </a:solidFill>
            <a:prstDash val="solid"/>
          </a:ln>
        </p:spPr>
        <p:txBody>
          <a:bodyPr/>
          <a:lstStyle/>
          <a:p>
            <a:endParaRPr lang="en-US"/>
          </a:p>
        </p:txBody>
      </p:sp>
      <p:sp>
        <p:nvSpPr>
          <p:cNvPr id="26" name="Shape 24"/>
          <p:cNvSpPr/>
          <p:nvPr/>
        </p:nvSpPr>
        <p:spPr>
          <a:xfrm>
            <a:off x="8567928" y="3154680"/>
            <a:ext cx="530352" cy="530352"/>
          </a:xfrm>
          <a:prstGeom prst="ellipse">
            <a:avLst/>
          </a:prstGeom>
          <a:solidFill>
            <a:srgbClr val="22C55E"/>
          </a:solidFill>
          <a:ln w="12700">
            <a:solidFill>
              <a:srgbClr val="22C55E"/>
            </a:solidFill>
            <a:prstDash val="solid"/>
          </a:ln>
        </p:spPr>
        <p:txBody>
          <a:bodyPr/>
          <a:lstStyle/>
          <a:p>
            <a:endParaRPr lang="en-US"/>
          </a:p>
        </p:txBody>
      </p:sp>
      <p:sp>
        <p:nvSpPr>
          <p:cNvPr id="27" name="Text 25"/>
          <p:cNvSpPr/>
          <p:nvPr/>
        </p:nvSpPr>
        <p:spPr>
          <a:xfrm>
            <a:off x="8567928" y="3282696"/>
            <a:ext cx="530352" cy="128016"/>
          </a:xfrm>
          <a:prstGeom prst="rect">
            <a:avLst/>
          </a:prstGeom>
          <a:noFill/>
          <a:ln/>
        </p:spPr>
        <p:txBody>
          <a:bodyPr wrap="square" rtlCol="0" anchor="ctr"/>
          <a:lstStyle/>
          <a:p>
            <a:pPr marL="0" indent="0" algn="ctr">
              <a:buNone/>
            </a:pPr>
            <a:r>
              <a:rPr lang="en-US" sz="1000" b="1" dirty="0">
                <a:solidFill>
                  <a:srgbClr val="FFFFFF"/>
                </a:solidFill>
              </a:rPr>
              <a:t>6</a:t>
            </a:r>
            <a:endParaRPr lang="en-US" sz="1000" dirty="0"/>
          </a:p>
        </p:txBody>
      </p:sp>
      <p:sp>
        <p:nvSpPr>
          <p:cNvPr id="28" name="Text 26"/>
          <p:cNvSpPr/>
          <p:nvPr/>
        </p:nvSpPr>
        <p:spPr>
          <a:xfrm>
            <a:off x="9235440" y="3209544"/>
            <a:ext cx="2240280" cy="411480"/>
          </a:xfrm>
          <a:prstGeom prst="rect">
            <a:avLst/>
          </a:prstGeom>
          <a:noFill/>
          <a:ln/>
        </p:spPr>
        <p:txBody>
          <a:bodyPr wrap="square" rtlCol="0" anchor="ctr">
            <a:normAutofit fontScale="92500" lnSpcReduction="20000"/>
          </a:bodyPr>
          <a:lstStyle/>
          <a:p>
            <a:pPr marL="0" indent="0">
              <a:buNone/>
            </a:pPr>
            <a:r>
              <a:rPr lang="en-US" sz="1250" b="1" dirty="0">
                <a:solidFill>
                  <a:srgbClr val="F8FAFC"/>
                </a:solidFill>
              </a:rPr>
              <a:t>Refactor into modules + document</a:t>
            </a:r>
            <a:endParaRPr lang="en-US" sz="1250" dirty="0"/>
          </a:p>
        </p:txBody>
      </p:sp>
      <p:sp>
        <p:nvSpPr>
          <p:cNvPr id="29" name="Shape 27"/>
          <p:cNvSpPr/>
          <p:nvPr/>
        </p:nvSpPr>
        <p:spPr>
          <a:xfrm>
            <a:off x="1828800" y="4617720"/>
            <a:ext cx="8503920" cy="1143000"/>
          </a:xfrm>
          <a:prstGeom prst="roundRect">
            <a:avLst>
              <a:gd name="adj" fmla="val 9600"/>
            </a:avLst>
          </a:prstGeom>
          <a:solidFill>
            <a:srgbClr val="020617"/>
          </a:solidFill>
          <a:ln w="12700">
            <a:solidFill>
              <a:srgbClr val="334155"/>
            </a:solidFill>
            <a:prstDash val="solid"/>
          </a:ln>
        </p:spPr>
        <p:txBody>
          <a:bodyPr/>
          <a:lstStyle/>
          <a:p>
            <a:endParaRPr lang="en-US"/>
          </a:p>
        </p:txBody>
      </p:sp>
      <p:sp>
        <p:nvSpPr>
          <p:cNvPr id="30" name="Text 28"/>
          <p:cNvSpPr/>
          <p:nvPr/>
        </p:nvSpPr>
        <p:spPr>
          <a:xfrm>
            <a:off x="2011680" y="4782312"/>
            <a:ext cx="8138160" cy="813816"/>
          </a:xfrm>
          <a:prstGeom prst="rect">
            <a:avLst/>
          </a:prstGeom>
          <a:noFill/>
          <a:ln/>
        </p:spPr>
        <p:txBody>
          <a:bodyPr wrap="square" rtlCol="0" anchor="ctr">
            <a:normAutofit/>
          </a:bodyPr>
          <a:lstStyle/>
          <a:p>
            <a:pPr marL="0" indent="0">
              <a:buNone/>
            </a:pPr>
            <a:r>
              <a:rPr lang="en-US" sz="930" dirty="0">
                <a:solidFill>
                  <a:srgbClr val="E2E8F0"/>
                </a:solidFill>
                <a:latin typeface="Cascadia Mono" pitchFamily="34" charset="0"/>
                <a:ea typeface="Cascadia Mono" pitchFamily="34" charset="-122"/>
                <a:cs typeface="Cascadia Mono" pitchFamily="34" charset="-120"/>
              </a:rPr>
              <a:t>python main.py</a:t>
            </a:r>
            <a:endParaRPr lang="en-US" sz="930" dirty="0"/>
          </a:p>
          <a:p>
            <a:pPr marL="0" indent="0">
              <a:buNone/>
            </a:pPr>
            <a:endParaRPr lang="en-US" sz="930" dirty="0"/>
          </a:p>
          <a:p>
            <a:pPr marL="0" indent="0">
              <a:buNone/>
            </a:pPr>
            <a:r>
              <a:rPr lang="en-US" sz="930" dirty="0">
                <a:solidFill>
                  <a:srgbClr val="E2E8F0"/>
                </a:solidFill>
                <a:latin typeface="Cascadia Mono" pitchFamily="34" charset="0"/>
                <a:ea typeface="Cascadia Mono" pitchFamily="34" charset="-122"/>
                <a:cs typeface="Cascadia Mono" pitchFamily="34" charset="-120"/>
              </a:rPr>
              <a:t># project runs the full workflow:</a:t>
            </a:r>
            <a:endParaRPr lang="en-US" sz="930" dirty="0"/>
          </a:p>
          <a:p>
            <a:pPr marL="0" indent="0">
              <a:buNone/>
            </a:pPr>
            <a:r>
              <a:rPr lang="en-US" sz="930" dirty="0">
                <a:solidFill>
                  <a:srgbClr val="E2E8F0"/>
                </a:solidFill>
                <a:latin typeface="Cascadia Mono" pitchFamily="34" charset="0"/>
                <a:ea typeface="Cascadia Mono" pitchFamily="34" charset="-122"/>
                <a:cs typeface="Cascadia Mono" pitchFamily="34" charset="-120"/>
              </a:rPr>
              <a:t># load → explore → clean → visualize → preprocess → model → compare</a:t>
            </a:r>
            <a:endParaRPr lang="en-US" sz="930" dirty="0"/>
          </a:p>
        </p:txBody>
      </p:sp>
      <p:sp>
        <p:nvSpPr>
          <p:cNvPr id="31"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Code Structure and Short Code Walkthrough</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777240" y="1325880"/>
            <a:ext cx="4480560" cy="4480560"/>
          </a:xfrm>
          <a:prstGeom prst="roundRect">
            <a:avLst>
              <a:gd name="adj" fmla="val 2449"/>
            </a:avLst>
          </a:prstGeom>
          <a:solidFill>
            <a:srgbClr val="020617"/>
          </a:solidFill>
          <a:ln w="12700">
            <a:solidFill>
              <a:srgbClr val="334155"/>
            </a:solidFill>
            <a:prstDash val="solid"/>
          </a:ln>
        </p:spPr>
        <p:txBody>
          <a:bodyPr/>
          <a:lstStyle/>
          <a:p>
            <a:endParaRPr lang="en-US"/>
          </a:p>
        </p:txBody>
      </p:sp>
      <p:sp>
        <p:nvSpPr>
          <p:cNvPr id="6" name="Text 4"/>
          <p:cNvSpPr/>
          <p:nvPr/>
        </p:nvSpPr>
        <p:spPr>
          <a:xfrm>
            <a:off x="960120" y="1490472"/>
            <a:ext cx="4114800" cy="4151376"/>
          </a:xfrm>
          <a:prstGeom prst="rect">
            <a:avLst/>
          </a:prstGeom>
          <a:noFill/>
          <a:ln/>
        </p:spPr>
        <p:txBody>
          <a:bodyPr wrap="square" rtlCol="0" anchor="ctr">
            <a:normAutofit/>
          </a:bodyPr>
          <a:lstStyle/>
          <a:p>
            <a:r>
              <a:rPr dirty="0" err="1">
                <a:solidFill>
                  <a:schemeClr val="bg1"/>
                </a:solidFill>
              </a:rPr>
              <a:t>RR_groupproject</a:t>
            </a:r>
            <a:r>
              <a:rPr dirty="0">
                <a:solidFill>
                  <a:schemeClr val="bg1"/>
                </a:solidFill>
              </a:rPr>
              <a:t>/</a:t>
            </a:r>
          </a:p>
          <a:p>
            <a:r>
              <a:rPr dirty="0">
                <a:solidFill>
                  <a:schemeClr val="bg1"/>
                </a:solidFill>
              </a:rPr>
              <a:t>├── main.py</a:t>
            </a:r>
          </a:p>
          <a:p>
            <a:r>
              <a:rPr dirty="0">
                <a:solidFill>
                  <a:schemeClr val="bg1"/>
                </a:solidFill>
              </a:rPr>
              <a:t>├── requirements.txt</a:t>
            </a:r>
          </a:p>
          <a:p>
            <a:r>
              <a:rPr dirty="0">
                <a:solidFill>
                  <a:schemeClr val="bg1"/>
                </a:solidFill>
              </a:rPr>
              <a:t>├── README.md</a:t>
            </a:r>
          </a:p>
          <a:p>
            <a:r>
              <a:rPr dirty="0">
                <a:solidFill>
                  <a:schemeClr val="bg1"/>
                </a:solidFill>
              </a:rPr>
              <a:t>├── data/loan_data.csv</a:t>
            </a:r>
          </a:p>
          <a:p>
            <a:r>
              <a:rPr dirty="0">
                <a:solidFill>
                  <a:schemeClr val="bg1"/>
                </a:solidFill>
              </a:rPr>
              <a:t>├── outputs/figures/</a:t>
            </a:r>
          </a:p>
          <a:p>
            <a:r>
              <a:rPr dirty="0">
                <a:solidFill>
                  <a:schemeClr val="bg1"/>
                </a:solidFill>
              </a:rPr>
              <a:t>└── </a:t>
            </a:r>
            <a:r>
              <a:rPr dirty="0" err="1">
                <a:solidFill>
                  <a:schemeClr val="bg1"/>
                </a:solidFill>
              </a:rPr>
              <a:t>src</a:t>
            </a:r>
            <a:r>
              <a:rPr dirty="0">
                <a:solidFill>
                  <a:schemeClr val="bg1"/>
                </a:solidFill>
              </a:rPr>
              <a:t>/</a:t>
            </a:r>
          </a:p>
          <a:p>
            <a:r>
              <a:rPr dirty="0">
                <a:solidFill>
                  <a:schemeClr val="bg1"/>
                </a:solidFill>
              </a:rPr>
              <a:t>    ├── data_loader.py</a:t>
            </a:r>
          </a:p>
          <a:p>
            <a:r>
              <a:rPr dirty="0">
                <a:solidFill>
                  <a:schemeClr val="bg1"/>
                </a:solidFill>
              </a:rPr>
              <a:t>    ├── explorer.py</a:t>
            </a:r>
          </a:p>
          <a:p>
            <a:r>
              <a:rPr dirty="0">
                <a:solidFill>
                  <a:schemeClr val="bg1"/>
                </a:solidFill>
              </a:rPr>
              <a:t>    ├── cleaner.py</a:t>
            </a:r>
          </a:p>
          <a:p>
            <a:r>
              <a:rPr dirty="0">
                <a:solidFill>
                  <a:schemeClr val="bg1"/>
                </a:solidFill>
              </a:rPr>
              <a:t>    ├── visualizer.py</a:t>
            </a:r>
          </a:p>
          <a:p>
            <a:r>
              <a:rPr dirty="0">
                <a:solidFill>
                  <a:schemeClr val="bg1"/>
                </a:solidFill>
              </a:rPr>
              <a:t>    ├── preprocessor.py</a:t>
            </a:r>
          </a:p>
          <a:p>
            <a:r>
              <a:rPr dirty="0">
                <a:solidFill>
                  <a:schemeClr val="bg1"/>
                </a:solidFill>
              </a:rPr>
              <a:t>    └── models.py</a:t>
            </a:r>
          </a:p>
        </p:txBody>
      </p:sp>
      <p:sp>
        <p:nvSpPr>
          <p:cNvPr id="7" name="Shape 5"/>
          <p:cNvSpPr/>
          <p:nvPr/>
        </p:nvSpPr>
        <p:spPr>
          <a:xfrm>
            <a:off x="5669280" y="1371600"/>
            <a:ext cx="2651760" cy="1005840"/>
          </a:xfrm>
          <a:prstGeom prst="roundRect">
            <a:avLst>
              <a:gd name="adj" fmla="val 14545"/>
            </a:avLst>
          </a:prstGeom>
          <a:solidFill>
            <a:srgbClr val="1E293B">
              <a:alpha val="94000"/>
            </a:srgbClr>
          </a:solidFill>
          <a:ln w="12700">
            <a:solidFill>
              <a:srgbClr val="334155">
                <a:alpha val="75000"/>
              </a:srgbClr>
            </a:solidFill>
            <a:prstDash val="solid"/>
          </a:ln>
        </p:spPr>
        <p:txBody>
          <a:bodyPr/>
          <a:lstStyle/>
          <a:p>
            <a:endParaRPr lang="en-US"/>
          </a:p>
        </p:txBody>
      </p:sp>
      <p:sp>
        <p:nvSpPr>
          <p:cNvPr id="8" name="Shape 6"/>
          <p:cNvSpPr/>
          <p:nvPr/>
        </p:nvSpPr>
        <p:spPr>
          <a:xfrm>
            <a:off x="5669280" y="1371600"/>
            <a:ext cx="54864" cy="1005840"/>
          </a:xfrm>
          <a:prstGeom prst="rect">
            <a:avLst/>
          </a:prstGeom>
          <a:solidFill>
            <a:srgbClr val="38BDF8"/>
          </a:solidFill>
          <a:ln w="12700">
            <a:solidFill>
              <a:srgbClr val="38BDF8"/>
            </a:solidFill>
            <a:prstDash val="solid"/>
          </a:ln>
        </p:spPr>
        <p:txBody>
          <a:bodyPr/>
          <a:lstStyle/>
          <a:p>
            <a:endParaRPr lang="en-US"/>
          </a:p>
        </p:txBody>
      </p:sp>
      <p:sp>
        <p:nvSpPr>
          <p:cNvPr id="9" name="Text 7"/>
          <p:cNvSpPr/>
          <p:nvPr/>
        </p:nvSpPr>
        <p:spPr>
          <a:xfrm>
            <a:off x="5870448" y="1536192"/>
            <a:ext cx="228600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main.py</a:t>
            </a:r>
            <a:endParaRPr lang="en-US" sz="1300" dirty="0"/>
          </a:p>
        </p:txBody>
      </p:sp>
      <p:sp>
        <p:nvSpPr>
          <p:cNvPr id="10" name="Text 8"/>
          <p:cNvSpPr/>
          <p:nvPr/>
        </p:nvSpPr>
        <p:spPr>
          <a:xfrm>
            <a:off x="5870448" y="1901952"/>
            <a:ext cx="2286000" cy="347472"/>
          </a:xfrm>
          <a:prstGeom prst="rect">
            <a:avLst/>
          </a:prstGeom>
          <a:noFill/>
          <a:ln/>
        </p:spPr>
        <p:txBody>
          <a:bodyPr wrap="square" rtlCol="0" anchor="t">
            <a:normAutofit fontScale="92500"/>
          </a:bodyPr>
          <a:lstStyle/>
          <a:p>
            <a:pPr marL="0" indent="0">
              <a:buNone/>
            </a:pPr>
            <a:r>
              <a:rPr lang="en-US" sz="1050" dirty="0">
                <a:solidFill>
                  <a:srgbClr val="CBD5E1"/>
                </a:solidFill>
                <a:latin typeface="Aptos" pitchFamily="34" charset="0"/>
                <a:ea typeface="Aptos" pitchFamily="34" charset="-122"/>
                <a:cs typeface="Aptos" pitchFamily="34" charset="-120"/>
              </a:rPr>
              <a:t>Runs the complete workflow in order.</a:t>
            </a:r>
            <a:endParaRPr lang="en-US" sz="1050" dirty="0"/>
          </a:p>
        </p:txBody>
      </p:sp>
      <p:sp>
        <p:nvSpPr>
          <p:cNvPr id="11" name="Shape 9"/>
          <p:cNvSpPr/>
          <p:nvPr/>
        </p:nvSpPr>
        <p:spPr>
          <a:xfrm>
            <a:off x="8641080" y="1371600"/>
            <a:ext cx="2651760" cy="1005840"/>
          </a:xfrm>
          <a:prstGeom prst="roundRect">
            <a:avLst>
              <a:gd name="adj" fmla="val 14545"/>
            </a:avLst>
          </a:prstGeom>
          <a:solidFill>
            <a:srgbClr val="1E293B">
              <a:alpha val="94000"/>
            </a:srgbClr>
          </a:solidFill>
          <a:ln w="12700">
            <a:solidFill>
              <a:srgbClr val="334155">
                <a:alpha val="75000"/>
              </a:srgbClr>
            </a:solidFill>
            <a:prstDash val="solid"/>
          </a:ln>
        </p:spPr>
        <p:txBody>
          <a:bodyPr/>
          <a:lstStyle/>
          <a:p>
            <a:endParaRPr lang="en-US"/>
          </a:p>
        </p:txBody>
      </p:sp>
      <p:sp>
        <p:nvSpPr>
          <p:cNvPr id="12" name="Shape 10"/>
          <p:cNvSpPr/>
          <p:nvPr/>
        </p:nvSpPr>
        <p:spPr>
          <a:xfrm>
            <a:off x="8641080" y="1371600"/>
            <a:ext cx="54864" cy="1005840"/>
          </a:xfrm>
          <a:prstGeom prst="rect">
            <a:avLst/>
          </a:prstGeom>
          <a:solidFill>
            <a:srgbClr val="22C55E"/>
          </a:solidFill>
          <a:ln w="12700">
            <a:solidFill>
              <a:srgbClr val="22C55E"/>
            </a:solidFill>
            <a:prstDash val="solid"/>
          </a:ln>
        </p:spPr>
        <p:txBody>
          <a:bodyPr/>
          <a:lstStyle/>
          <a:p>
            <a:endParaRPr lang="en-US"/>
          </a:p>
        </p:txBody>
      </p:sp>
      <p:sp>
        <p:nvSpPr>
          <p:cNvPr id="13" name="Text 11"/>
          <p:cNvSpPr/>
          <p:nvPr/>
        </p:nvSpPr>
        <p:spPr>
          <a:xfrm>
            <a:off x="8842248" y="1536192"/>
            <a:ext cx="228600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src/</a:t>
            </a:r>
            <a:endParaRPr lang="en-US" sz="1300" dirty="0"/>
          </a:p>
        </p:txBody>
      </p:sp>
      <p:sp>
        <p:nvSpPr>
          <p:cNvPr id="14" name="Text 12"/>
          <p:cNvSpPr/>
          <p:nvPr/>
        </p:nvSpPr>
        <p:spPr>
          <a:xfrm>
            <a:off x="8842248" y="1901952"/>
            <a:ext cx="2286000" cy="347472"/>
          </a:xfrm>
          <a:prstGeom prst="rect">
            <a:avLst/>
          </a:prstGeom>
          <a:noFill/>
          <a:ln/>
        </p:spPr>
        <p:txBody>
          <a:bodyPr wrap="square" rtlCol="0" anchor="t">
            <a:normAutofit fontScale="92500" lnSpcReduction="20000"/>
          </a:bodyPr>
          <a:lstStyle/>
          <a:p>
            <a:pPr marL="0" indent="0">
              <a:buNone/>
            </a:pPr>
            <a:r>
              <a:rPr lang="en-US" sz="1050" dirty="0">
                <a:solidFill>
                  <a:srgbClr val="CBD5E1"/>
                </a:solidFill>
                <a:latin typeface="Aptos" pitchFamily="34" charset="0"/>
                <a:ea typeface="Aptos" pitchFamily="34" charset="-122"/>
                <a:cs typeface="Aptos" pitchFamily="34" charset="-120"/>
              </a:rPr>
              <a:t>Stores reusable classes and functions.</a:t>
            </a:r>
            <a:endParaRPr lang="en-US" sz="1050" dirty="0"/>
          </a:p>
        </p:txBody>
      </p:sp>
      <p:sp>
        <p:nvSpPr>
          <p:cNvPr id="15" name="Shape 13"/>
          <p:cNvSpPr/>
          <p:nvPr/>
        </p:nvSpPr>
        <p:spPr>
          <a:xfrm>
            <a:off x="5669280" y="2697480"/>
            <a:ext cx="2651760" cy="1005840"/>
          </a:xfrm>
          <a:prstGeom prst="roundRect">
            <a:avLst>
              <a:gd name="adj" fmla="val 14545"/>
            </a:avLst>
          </a:prstGeom>
          <a:solidFill>
            <a:srgbClr val="1E293B">
              <a:alpha val="94000"/>
            </a:srgbClr>
          </a:solidFill>
          <a:ln w="12700">
            <a:solidFill>
              <a:srgbClr val="334155">
                <a:alpha val="75000"/>
              </a:srgbClr>
            </a:solidFill>
            <a:prstDash val="solid"/>
          </a:ln>
        </p:spPr>
        <p:txBody>
          <a:bodyPr/>
          <a:lstStyle/>
          <a:p>
            <a:endParaRPr lang="en-US"/>
          </a:p>
        </p:txBody>
      </p:sp>
      <p:sp>
        <p:nvSpPr>
          <p:cNvPr id="16" name="Shape 14"/>
          <p:cNvSpPr/>
          <p:nvPr/>
        </p:nvSpPr>
        <p:spPr>
          <a:xfrm>
            <a:off x="5669280" y="2697480"/>
            <a:ext cx="54864" cy="1005840"/>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5870448" y="2862072"/>
            <a:ext cx="228600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outputs/</a:t>
            </a:r>
            <a:endParaRPr lang="en-US" sz="1300" dirty="0"/>
          </a:p>
        </p:txBody>
      </p:sp>
      <p:sp>
        <p:nvSpPr>
          <p:cNvPr id="18" name="Text 16"/>
          <p:cNvSpPr/>
          <p:nvPr/>
        </p:nvSpPr>
        <p:spPr>
          <a:xfrm>
            <a:off x="5870448" y="3227832"/>
            <a:ext cx="2286000" cy="347472"/>
          </a:xfrm>
          <a:prstGeom prst="rect">
            <a:avLst/>
          </a:prstGeom>
          <a:noFill/>
          <a:ln/>
        </p:spPr>
        <p:txBody>
          <a:bodyPr wrap="square" rtlCol="0" anchor="t">
            <a:normAutofit fontScale="92500" lnSpcReduction="20000"/>
          </a:bodyPr>
          <a:lstStyle/>
          <a:p>
            <a:pPr marL="0" indent="0">
              <a:buNone/>
            </a:pPr>
            <a:r>
              <a:rPr lang="en-US" sz="1050" dirty="0">
                <a:solidFill>
                  <a:srgbClr val="CBD5E1"/>
                </a:solidFill>
                <a:latin typeface="Aptos" pitchFamily="34" charset="0"/>
                <a:ea typeface="Aptos" pitchFamily="34" charset="-122"/>
                <a:cs typeface="Aptos" pitchFamily="34" charset="-120"/>
              </a:rPr>
              <a:t>Stores figures generated by the analysis.</a:t>
            </a:r>
            <a:endParaRPr lang="en-US" sz="1050" dirty="0"/>
          </a:p>
        </p:txBody>
      </p:sp>
      <p:sp>
        <p:nvSpPr>
          <p:cNvPr id="19" name="Shape 17"/>
          <p:cNvSpPr/>
          <p:nvPr/>
        </p:nvSpPr>
        <p:spPr>
          <a:xfrm>
            <a:off x="8641080" y="2697480"/>
            <a:ext cx="2651760" cy="1005840"/>
          </a:xfrm>
          <a:prstGeom prst="roundRect">
            <a:avLst>
              <a:gd name="adj" fmla="val 14545"/>
            </a:avLst>
          </a:prstGeom>
          <a:solidFill>
            <a:srgbClr val="1E293B">
              <a:alpha val="94000"/>
            </a:srgbClr>
          </a:solidFill>
          <a:ln w="12700">
            <a:solidFill>
              <a:srgbClr val="334155">
                <a:alpha val="75000"/>
              </a:srgbClr>
            </a:solidFill>
            <a:prstDash val="solid"/>
          </a:ln>
        </p:spPr>
        <p:txBody>
          <a:bodyPr/>
          <a:lstStyle/>
          <a:p>
            <a:endParaRPr lang="en-US"/>
          </a:p>
        </p:txBody>
      </p:sp>
      <p:sp>
        <p:nvSpPr>
          <p:cNvPr id="20" name="Shape 18"/>
          <p:cNvSpPr/>
          <p:nvPr/>
        </p:nvSpPr>
        <p:spPr>
          <a:xfrm>
            <a:off x="8641080" y="2697480"/>
            <a:ext cx="54864" cy="1005840"/>
          </a:xfrm>
          <a:prstGeom prst="rect">
            <a:avLst/>
          </a:prstGeom>
          <a:solidFill>
            <a:srgbClr val="A78BFA"/>
          </a:solidFill>
          <a:ln w="12700">
            <a:solidFill>
              <a:srgbClr val="A78BFA"/>
            </a:solidFill>
            <a:prstDash val="solid"/>
          </a:ln>
        </p:spPr>
        <p:txBody>
          <a:bodyPr/>
          <a:lstStyle/>
          <a:p>
            <a:endParaRPr lang="en-US"/>
          </a:p>
        </p:txBody>
      </p:sp>
      <p:sp>
        <p:nvSpPr>
          <p:cNvPr id="21" name="Text 19"/>
          <p:cNvSpPr/>
          <p:nvPr/>
        </p:nvSpPr>
        <p:spPr>
          <a:xfrm>
            <a:off x="8842248" y="2862072"/>
            <a:ext cx="2286000" cy="256032"/>
          </a:xfrm>
          <a:prstGeom prst="rect">
            <a:avLst/>
          </a:prstGeom>
          <a:noFill/>
          <a:ln/>
        </p:spPr>
        <p:txBody>
          <a:bodyPr wrap="square" rtlCol="0" anchor="ctr"/>
          <a:lstStyle/>
          <a:p>
            <a:r>
              <a:t>README.md</a:t>
            </a:r>
          </a:p>
        </p:txBody>
      </p:sp>
      <p:sp>
        <p:nvSpPr>
          <p:cNvPr id="22" name="Text 20"/>
          <p:cNvSpPr/>
          <p:nvPr/>
        </p:nvSpPr>
        <p:spPr>
          <a:xfrm>
            <a:off x="8842248" y="3227832"/>
            <a:ext cx="2286000" cy="347472"/>
          </a:xfrm>
          <a:prstGeom prst="rect">
            <a:avLst/>
          </a:prstGeom>
          <a:noFill/>
          <a:ln/>
        </p:spPr>
        <p:txBody>
          <a:bodyPr wrap="square" rtlCol="0" anchor="t">
            <a:normAutofit fontScale="47500" lnSpcReduction="20000"/>
          </a:bodyPr>
          <a:lstStyle/>
          <a:p>
            <a:r>
              <a:t>Explains the project, reproduction steps, dependencies, and team contributions.</a:t>
            </a:r>
          </a:p>
        </p:txBody>
      </p:sp>
      <p:sp>
        <p:nvSpPr>
          <p:cNvPr id="23" name="Text 21"/>
          <p:cNvSpPr/>
          <p:nvPr/>
        </p:nvSpPr>
        <p:spPr>
          <a:xfrm>
            <a:off x="5669280" y="4343400"/>
            <a:ext cx="2286000" cy="228600"/>
          </a:xfrm>
          <a:prstGeom prst="rect">
            <a:avLst/>
          </a:prstGeom>
          <a:noFill/>
          <a:ln/>
        </p:spPr>
        <p:txBody>
          <a:bodyPr wrap="square" rtlCol="0" anchor="ctr"/>
          <a:lstStyle/>
          <a:p>
            <a:pPr marL="0" indent="0">
              <a:buNone/>
            </a:pPr>
            <a:r>
              <a:rPr lang="en-US" sz="1400" b="1" dirty="0">
                <a:solidFill>
                  <a:srgbClr val="F8FAFC"/>
                </a:solidFill>
              </a:rPr>
              <a:t>Why modularize?</a:t>
            </a:r>
            <a:endParaRPr lang="en-US" sz="1400" dirty="0"/>
          </a:p>
        </p:txBody>
      </p:sp>
      <p:sp>
        <p:nvSpPr>
          <p:cNvPr id="24" name="Text 22"/>
          <p:cNvSpPr/>
          <p:nvPr/>
        </p:nvSpPr>
        <p:spPr>
          <a:xfrm>
            <a:off x="5715000" y="4773168"/>
            <a:ext cx="228600" cy="201168"/>
          </a:xfrm>
          <a:prstGeom prst="rect">
            <a:avLst/>
          </a:prstGeom>
          <a:noFill/>
          <a:ln/>
        </p:spPr>
        <p:txBody>
          <a:bodyPr wrap="square" rtlCol="0" anchor="ctr"/>
          <a:lstStyle/>
          <a:p>
            <a:pPr marL="0" indent="0">
              <a:buNone/>
            </a:pPr>
            <a:r>
              <a:rPr lang="en-US" sz="1450" b="1" dirty="0">
                <a:solidFill>
                  <a:srgbClr val="38BDF8"/>
                </a:solidFill>
              </a:rPr>
              <a:t>•</a:t>
            </a:r>
            <a:endParaRPr lang="en-US" sz="1450" dirty="0"/>
          </a:p>
        </p:txBody>
      </p:sp>
      <p:sp>
        <p:nvSpPr>
          <p:cNvPr id="25" name="Text 23"/>
          <p:cNvSpPr/>
          <p:nvPr/>
        </p:nvSpPr>
        <p:spPr>
          <a:xfrm>
            <a:off x="6007608" y="4754880"/>
            <a:ext cx="5212080" cy="292608"/>
          </a:xfrm>
          <a:prstGeom prst="rect">
            <a:avLst/>
          </a:prstGeom>
          <a:noFill/>
          <a:ln/>
        </p:spPr>
        <p:txBody>
          <a:bodyPr wrap="square" rtlCol="0" anchor="ctr">
            <a:normAutofit/>
          </a:bodyPr>
          <a:lstStyle/>
          <a:p>
            <a:pPr marL="0" indent="0">
              <a:buNone/>
            </a:pPr>
            <a:r>
              <a:rPr lang="en-US" sz="1250" dirty="0">
                <a:solidFill>
                  <a:srgbClr val="F8FAFC"/>
                </a:solidFill>
                <a:latin typeface="Aptos" pitchFamily="34" charset="0"/>
                <a:ea typeface="Aptos" pitchFamily="34" charset="-122"/>
                <a:cs typeface="Aptos" pitchFamily="34" charset="-120"/>
              </a:rPr>
              <a:t>Cleaner than one long script</a:t>
            </a:r>
            <a:endParaRPr lang="en-US" sz="1250" dirty="0"/>
          </a:p>
        </p:txBody>
      </p:sp>
      <p:sp>
        <p:nvSpPr>
          <p:cNvPr id="26" name="Text 24"/>
          <p:cNvSpPr/>
          <p:nvPr/>
        </p:nvSpPr>
        <p:spPr>
          <a:xfrm>
            <a:off x="5715000" y="5102352"/>
            <a:ext cx="228600" cy="201168"/>
          </a:xfrm>
          <a:prstGeom prst="rect">
            <a:avLst/>
          </a:prstGeom>
          <a:noFill/>
          <a:ln/>
        </p:spPr>
        <p:txBody>
          <a:bodyPr wrap="square" rtlCol="0" anchor="ctr"/>
          <a:lstStyle/>
          <a:p>
            <a:pPr marL="0" indent="0">
              <a:buNone/>
            </a:pPr>
            <a:r>
              <a:rPr lang="en-US" sz="1450" b="1" dirty="0">
                <a:solidFill>
                  <a:srgbClr val="38BDF8"/>
                </a:solidFill>
              </a:rPr>
              <a:t>•</a:t>
            </a:r>
            <a:endParaRPr lang="en-US" sz="1450" dirty="0"/>
          </a:p>
        </p:txBody>
      </p:sp>
      <p:sp>
        <p:nvSpPr>
          <p:cNvPr id="27" name="Text 25"/>
          <p:cNvSpPr/>
          <p:nvPr/>
        </p:nvSpPr>
        <p:spPr>
          <a:xfrm>
            <a:off x="6007608" y="5084064"/>
            <a:ext cx="5212080" cy="292608"/>
          </a:xfrm>
          <a:prstGeom prst="rect">
            <a:avLst/>
          </a:prstGeom>
          <a:noFill/>
          <a:ln/>
        </p:spPr>
        <p:txBody>
          <a:bodyPr wrap="square" rtlCol="0" anchor="ctr">
            <a:normAutofit/>
          </a:bodyPr>
          <a:lstStyle/>
          <a:p>
            <a:pPr marL="0" indent="0">
              <a:buNone/>
            </a:pPr>
            <a:r>
              <a:rPr lang="en-US" sz="1250" dirty="0">
                <a:solidFill>
                  <a:srgbClr val="F8FAFC"/>
                </a:solidFill>
                <a:latin typeface="Aptos" pitchFamily="34" charset="0"/>
                <a:ea typeface="Aptos" pitchFamily="34" charset="-122"/>
                <a:cs typeface="Aptos" pitchFamily="34" charset="-120"/>
              </a:rPr>
              <a:t>Easier to debug and present</a:t>
            </a:r>
            <a:endParaRPr lang="en-US" sz="1250" dirty="0"/>
          </a:p>
        </p:txBody>
      </p:sp>
      <p:sp>
        <p:nvSpPr>
          <p:cNvPr id="28" name="Text 26"/>
          <p:cNvSpPr/>
          <p:nvPr/>
        </p:nvSpPr>
        <p:spPr>
          <a:xfrm>
            <a:off x="5715000" y="5431536"/>
            <a:ext cx="228600" cy="201168"/>
          </a:xfrm>
          <a:prstGeom prst="rect">
            <a:avLst/>
          </a:prstGeom>
          <a:noFill/>
          <a:ln/>
        </p:spPr>
        <p:txBody>
          <a:bodyPr wrap="square" rtlCol="0" anchor="ctr"/>
          <a:lstStyle/>
          <a:p>
            <a:pPr marL="0" indent="0">
              <a:buNone/>
            </a:pPr>
            <a:r>
              <a:rPr lang="en-US" sz="1450" b="1" dirty="0">
                <a:solidFill>
                  <a:srgbClr val="38BDF8"/>
                </a:solidFill>
              </a:rPr>
              <a:t>•</a:t>
            </a:r>
            <a:endParaRPr lang="en-US" sz="1450" dirty="0"/>
          </a:p>
        </p:txBody>
      </p:sp>
      <p:sp>
        <p:nvSpPr>
          <p:cNvPr id="29" name="Text 27"/>
          <p:cNvSpPr/>
          <p:nvPr/>
        </p:nvSpPr>
        <p:spPr>
          <a:xfrm>
            <a:off x="6007608" y="5413248"/>
            <a:ext cx="5212080" cy="292608"/>
          </a:xfrm>
          <a:prstGeom prst="rect">
            <a:avLst/>
          </a:prstGeom>
          <a:noFill/>
          <a:ln/>
        </p:spPr>
        <p:txBody>
          <a:bodyPr wrap="square" rtlCol="0" anchor="ctr">
            <a:normAutofit/>
          </a:bodyPr>
          <a:lstStyle/>
          <a:p>
            <a:pPr marL="0" indent="0">
              <a:buNone/>
            </a:pPr>
            <a:r>
              <a:rPr lang="en-US" sz="1250" dirty="0">
                <a:solidFill>
                  <a:srgbClr val="F8FAFC"/>
                </a:solidFill>
                <a:latin typeface="Aptos" pitchFamily="34" charset="0"/>
                <a:ea typeface="Aptos" pitchFamily="34" charset="-122"/>
                <a:cs typeface="Aptos" pitchFamily="34" charset="-120"/>
              </a:rPr>
              <a:t>Better Git history and teamwork</a:t>
            </a:r>
            <a:endParaRPr lang="en-US" sz="1250" dirty="0"/>
          </a:p>
        </p:txBody>
      </p:sp>
      <p:sp>
        <p:nvSpPr>
          <p:cNvPr id="30" name="Text 28"/>
          <p:cNvSpPr/>
          <p:nvPr/>
        </p:nvSpPr>
        <p:spPr>
          <a:xfrm>
            <a:off x="5715000" y="5760720"/>
            <a:ext cx="228600" cy="201168"/>
          </a:xfrm>
          <a:prstGeom prst="rect">
            <a:avLst/>
          </a:prstGeom>
          <a:noFill/>
          <a:ln/>
        </p:spPr>
        <p:txBody>
          <a:bodyPr wrap="square" rtlCol="0" anchor="ctr"/>
          <a:lstStyle/>
          <a:p>
            <a:pPr marL="0" indent="0">
              <a:buNone/>
            </a:pPr>
            <a:r>
              <a:rPr lang="en-US" sz="1450" b="1" dirty="0">
                <a:solidFill>
                  <a:srgbClr val="38BDF8"/>
                </a:solidFill>
              </a:rPr>
              <a:t>•</a:t>
            </a:r>
            <a:endParaRPr lang="en-US" sz="1450" dirty="0"/>
          </a:p>
        </p:txBody>
      </p:sp>
      <p:sp>
        <p:nvSpPr>
          <p:cNvPr id="31" name="Text 29"/>
          <p:cNvSpPr/>
          <p:nvPr/>
        </p:nvSpPr>
        <p:spPr>
          <a:xfrm>
            <a:off x="6007608" y="5742432"/>
            <a:ext cx="5212080" cy="292608"/>
          </a:xfrm>
          <a:prstGeom prst="rect">
            <a:avLst/>
          </a:prstGeom>
          <a:noFill/>
          <a:ln/>
        </p:spPr>
        <p:txBody>
          <a:bodyPr wrap="square" rtlCol="0" anchor="ctr">
            <a:normAutofit/>
          </a:bodyPr>
          <a:lstStyle/>
          <a:p>
            <a:pPr marL="0" indent="0">
              <a:buNone/>
            </a:pPr>
            <a:r>
              <a:rPr lang="en-US" sz="1250" dirty="0">
                <a:solidFill>
                  <a:srgbClr val="F8FAFC"/>
                </a:solidFill>
                <a:latin typeface="Aptos" pitchFamily="34" charset="0"/>
                <a:ea typeface="Aptos" pitchFamily="34" charset="-122"/>
                <a:cs typeface="Aptos" pitchFamily="34" charset="-120"/>
              </a:rPr>
              <a:t>Improves reproducibility</a:t>
            </a:r>
            <a:endParaRPr lang="en-US" sz="1250" dirty="0"/>
          </a:p>
        </p:txBody>
      </p:sp>
      <p:sp>
        <p:nvSpPr>
          <p:cNvPr id="32"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r>
              <a:t>Reproducibility Setup: GitHub, Requirements, Local Run</a:t>
            </a:r>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777240" y="1371600"/>
            <a:ext cx="3429000" cy="1188720"/>
          </a:xfrm>
          <a:prstGeom prst="roundRect">
            <a:avLst>
              <a:gd name="adj" fmla="val 12308"/>
            </a:avLst>
          </a:prstGeom>
          <a:solidFill>
            <a:srgbClr val="1E293B">
              <a:alpha val="94000"/>
            </a:srgbClr>
          </a:solidFill>
          <a:ln w="12700">
            <a:solidFill>
              <a:srgbClr val="334155">
                <a:alpha val="75000"/>
              </a:srgbClr>
            </a:solidFill>
            <a:prstDash val="solid"/>
          </a:ln>
        </p:spPr>
        <p:txBody>
          <a:bodyPr/>
          <a:lstStyle/>
          <a:p>
            <a:endParaRPr lang="en-US"/>
          </a:p>
        </p:txBody>
      </p:sp>
      <p:sp>
        <p:nvSpPr>
          <p:cNvPr id="6" name="Shape 4"/>
          <p:cNvSpPr/>
          <p:nvPr/>
        </p:nvSpPr>
        <p:spPr>
          <a:xfrm>
            <a:off x="777240" y="1371600"/>
            <a:ext cx="54864" cy="1188720"/>
          </a:xfrm>
          <a:prstGeom prst="rect">
            <a:avLst/>
          </a:prstGeom>
          <a:solidFill>
            <a:srgbClr val="38BDF8"/>
          </a:solidFill>
          <a:ln w="12700">
            <a:solidFill>
              <a:srgbClr val="38BDF8"/>
            </a:solidFill>
            <a:prstDash val="solid"/>
          </a:ln>
        </p:spPr>
        <p:txBody>
          <a:bodyPr/>
          <a:lstStyle/>
          <a:p>
            <a:endParaRPr lang="en-US"/>
          </a:p>
        </p:txBody>
      </p:sp>
      <p:sp>
        <p:nvSpPr>
          <p:cNvPr id="7" name="Text 5"/>
          <p:cNvSpPr/>
          <p:nvPr/>
        </p:nvSpPr>
        <p:spPr>
          <a:xfrm>
            <a:off x="978408" y="1536192"/>
            <a:ext cx="306324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GitHub repository</a:t>
            </a:r>
            <a:endParaRPr lang="en-US" sz="1300" dirty="0"/>
          </a:p>
        </p:txBody>
      </p:sp>
      <p:sp>
        <p:nvSpPr>
          <p:cNvPr id="8" name="Text 6"/>
          <p:cNvSpPr/>
          <p:nvPr/>
        </p:nvSpPr>
        <p:spPr>
          <a:xfrm>
            <a:off x="978408" y="1901952"/>
            <a:ext cx="3063240" cy="53035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Stores code, README, dataset path, outputs, and visible project history.</a:t>
            </a:r>
            <a:endParaRPr lang="en-US" sz="1050" dirty="0"/>
          </a:p>
        </p:txBody>
      </p:sp>
      <p:sp>
        <p:nvSpPr>
          <p:cNvPr id="9" name="Shape 7"/>
          <p:cNvSpPr/>
          <p:nvPr/>
        </p:nvSpPr>
        <p:spPr>
          <a:xfrm>
            <a:off x="4434840" y="1371600"/>
            <a:ext cx="3429000" cy="1188720"/>
          </a:xfrm>
          <a:prstGeom prst="roundRect">
            <a:avLst>
              <a:gd name="adj" fmla="val 12308"/>
            </a:avLst>
          </a:prstGeom>
          <a:solidFill>
            <a:srgbClr val="1E293B">
              <a:alpha val="94000"/>
            </a:srgbClr>
          </a:solidFill>
          <a:ln w="12700">
            <a:solidFill>
              <a:srgbClr val="334155">
                <a:alpha val="75000"/>
              </a:srgbClr>
            </a:solidFill>
            <a:prstDash val="solid"/>
          </a:ln>
        </p:spPr>
        <p:txBody>
          <a:bodyPr/>
          <a:lstStyle/>
          <a:p>
            <a:endParaRPr lang="en-US"/>
          </a:p>
        </p:txBody>
      </p:sp>
      <p:sp>
        <p:nvSpPr>
          <p:cNvPr id="10" name="Shape 8"/>
          <p:cNvSpPr/>
          <p:nvPr/>
        </p:nvSpPr>
        <p:spPr>
          <a:xfrm>
            <a:off x="4434840" y="1371600"/>
            <a:ext cx="54864" cy="1188720"/>
          </a:xfrm>
          <a:prstGeom prst="rect">
            <a:avLst/>
          </a:prstGeom>
          <a:solidFill>
            <a:srgbClr val="22C55E"/>
          </a:solidFill>
          <a:ln w="12700">
            <a:solidFill>
              <a:srgbClr val="22C55E"/>
            </a:solidFill>
            <a:prstDash val="solid"/>
          </a:ln>
        </p:spPr>
        <p:txBody>
          <a:bodyPr/>
          <a:lstStyle/>
          <a:p>
            <a:endParaRPr lang="en-US"/>
          </a:p>
        </p:txBody>
      </p:sp>
      <p:sp>
        <p:nvSpPr>
          <p:cNvPr id="11" name="Text 9"/>
          <p:cNvSpPr/>
          <p:nvPr/>
        </p:nvSpPr>
        <p:spPr>
          <a:xfrm>
            <a:off x="4636008" y="1536192"/>
            <a:ext cx="306324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requirements.txt</a:t>
            </a:r>
            <a:endParaRPr lang="en-US" sz="1300" dirty="0"/>
          </a:p>
        </p:txBody>
      </p:sp>
      <p:sp>
        <p:nvSpPr>
          <p:cNvPr id="12" name="Text 10"/>
          <p:cNvSpPr/>
          <p:nvPr/>
        </p:nvSpPr>
        <p:spPr>
          <a:xfrm>
            <a:off x="4636008" y="1901952"/>
            <a:ext cx="3063240" cy="53035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Lists Python packages needed to reproduce the project locally.</a:t>
            </a:r>
            <a:endParaRPr lang="en-US" sz="1050" dirty="0"/>
          </a:p>
        </p:txBody>
      </p:sp>
      <p:sp>
        <p:nvSpPr>
          <p:cNvPr id="13" name="Shape 11"/>
          <p:cNvSpPr/>
          <p:nvPr/>
        </p:nvSpPr>
        <p:spPr>
          <a:xfrm>
            <a:off x="8092440" y="1371600"/>
            <a:ext cx="3429000" cy="1188720"/>
          </a:xfrm>
          <a:prstGeom prst="roundRect">
            <a:avLst>
              <a:gd name="adj" fmla="val 12308"/>
            </a:avLst>
          </a:prstGeom>
          <a:solidFill>
            <a:srgbClr val="1E293B">
              <a:alpha val="94000"/>
            </a:srgbClr>
          </a:solidFill>
          <a:ln w="12700">
            <a:solidFill>
              <a:srgbClr val="334155">
                <a:alpha val="75000"/>
              </a:srgbClr>
            </a:solidFill>
            <a:prstDash val="solid"/>
          </a:ln>
        </p:spPr>
        <p:txBody>
          <a:bodyPr/>
          <a:lstStyle/>
          <a:p>
            <a:endParaRPr lang="en-US"/>
          </a:p>
        </p:txBody>
      </p:sp>
      <p:sp>
        <p:nvSpPr>
          <p:cNvPr id="14" name="Shape 12"/>
          <p:cNvSpPr/>
          <p:nvPr/>
        </p:nvSpPr>
        <p:spPr>
          <a:xfrm>
            <a:off x="8092440" y="1371600"/>
            <a:ext cx="54864" cy="1188720"/>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8293608" y="1536192"/>
            <a:ext cx="3063240" cy="256032"/>
          </a:xfrm>
          <a:prstGeom prst="rect">
            <a:avLst/>
          </a:prstGeom>
          <a:noFill/>
          <a:ln/>
        </p:spPr>
        <p:txBody>
          <a:bodyPr wrap="square" rtlCol="0" anchor="ctr"/>
          <a:lstStyle/>
          <a:p>
            <a:r>
              <a:rPr dirty="0">
                <a:solidFill>
                  <a:schemeClr val="bg1"/>
                </a:solidFill>
              </a:rPr>
              <a:t>Virtual environment</a:t>
            </a:r>
          </a:p>
        </p:txBody>
      </p:sp>
      <p:sp>
        <p:nvSpPr>
          <p:cNvPr id="16" name="Text 14"/>
          <p:cNvSpPr/>
          <p:nvPr/>
        </p:nvSpPr>
        <p:spPr>
          <a:xfrm>
            <a:off x="8293608" y="1901952"/>
            <a:ext cx="3063240" cy="530352"/>
          </a:xfrm>
          <a:prstGeom prst="rect">
            <a:avLst/>
          </a:prstGeom>
          <a:noFill/>
          <a:ln/>
        </p:spPr>
        <p:txBody>
          <a:bodyPr wrap="square" rtlCol="0" anchor="t">
            <a:normAutofit fontScale="62500" lnSpcReduction="20000"/>
          </a:bodyPr>
          <a:lstStyle/>
          <a:p>
            <a:r>
              <a:rPr dirty="0">
                <a:solidFill>
                  <a:schemeClr val="bg1"/>
                </a:solidFill>
              </a:rPr>
              <a:t>Creates an isolated local Python environment for installing the required packages.</a:t>
            </a:r>
          </a:p>
        </p:txBody>
      </p:sp>
      <p:sp>
        <p:nvSpPr>
          <p:cNvPr id="17" name="Shape 15"/>
          <p:cNvSpPr/>
          <p:nvPr/>
        </p:nvSpPr>
        <p:spPr>
          <a:xfrm>
            <a:off x="1005840" y="3200400"/>
            <a:ext cx="10058400" cy="1691640"/>
          </a:xfrm>
          <a:prstGeom prst="roundRect">
            <a:avLst>
              <a:gd name="adj" fmla="val 6486"/>
            </a:avLst>
          </a:prstGeom>
          <a:solidFill>
            <a:srgbClr val="020617"/>
          </a:solidFill>
          <a:ln w="12700">
            <a:solidFill>
              <a:srgbClr val="334155"/>
            </a:solidFill>
            <a:prstDash val="solid"/>
          </a:ln>
        </p:spPr>
        <p:txBody>
          <a:bodyPr/>
          <a:lstStyle/>
          <a:p>
            <a:endParaRPr lang="en-US"/>
          </a:p>
        </p:txBody>
      </p:sp>
      <p:sp>
        <p:nvSpPr>
          <p:cNvPr id="18" name="Text 16"/>
          <p:cNvSpPr/>
          <p:nvPr/>
        </p:nvSpPr>
        <p:spPr>
          <a:xfrm>
            <a:off x="1188720" y="3364992"/>
            <a:ext cx="9692640" cy="1362456"/>
          </a:xfrm>
          <a:prstGeom prst="rect">
            <a:avLst/>
          </a:prstGeom>
          <a:noFill/>
          <a:ln/>
        </p:spPr>
        <p:txBody>
          <a:bodyPr wrap="square" rtlCol="0" anchor="ctr">
            <a:normAutofit fontScale="47500" lnSpcReduction="20000"/>
          </a:bodyPr>
          <a:lstStyle/>
          <a:p>
            <a:r>
              <a:rPr dirty="0">
                <a:solidFill>
                  <a:schemeClr val="bg1"/>
                </a:solidFill>
              </a:rPr>
              <a:t># Clone repository</a:t>
            </a:r>
          </a:p>
          <a:p>
            <a:r>
              <a:rPr dirty="0">
                <a:solidFill>
                  <a:schemeClr val="bg1"/>
                </a:solidFill>
              </a:rPr>
              <a:t>git clone https://github.com/Kuo629/RR_groupproject.git</a:t>
            </a:r>
          </a:p>
          <a:p>
            <a:r>
              <a:rPr dirty="0">
                <a:solidFill>
                  <a:schemeClr val="bg1"/>
                </a:solidFill>
              </a:rPr>
              <a:t>cd </a:t>
            </a:r>
            <a:r>
              <a:rPr dirty="0" err="1">
                <a:solidFill>
                  <a:schemeClr val="bg1"/>
                </a:solidFill>
              </a:rPr>
              <a:t>RR_groupproject</a:t>
            </a:r>
            <a:endParaRPr dirty="0">
              <a:solidFill>
                <a:schemeClr val="bg1"/>
              </a:solidFill>
            </a:endParaRPr>
          </a:p>
          <a:p>
            <a:endParaRPr dirty="0">
              <a:solidFill>
                <a:schemeClr val="bg1"/>
              </a:solidFill>
            </a:endParaRPr>
          </a:p>
          <a:p>
            <a:r>
              <a:rPr dirty="0">
                <a:solidFill>
                  <a:schemeClr val="bg1"/>
                </a:solidFill>
              </a:rPr>
              <a:t># Create environment and install packages</a:t>
            </a:r>
          </a:p>
          <a:p>
            <a:r>
              <a:rPr dirty="0">
                <a:solidFill>
                  <a:schemeClr val="bg1"/>
                </a:solidFill>
              </a:rPr>
              <a:t>python -m </a:t>
            </a:r>
            <a:r>
              <a:rPr dirty="0" err="1">
                <a:solidFill>
                  <a:schemeClr val="bg1"/>
                </a:solidFill>
              </a:rPr>
              <a:t>venv</a:t>
            </a:r>
            <a:r>
              <a:rPr dirty="0">
                <a:solidFill>
                  <a:schemeClr val="bg1"/>
                </a:solidFill>
              </a:rPr>
              <a:t> .</a:t>
            </a:r>
            <a:r>
              <a:rPr dirty="0" err="1">
                <a:solidFill>
                  <a:schemeClr val="bg1"/>
                </a:solidFill>
              </a:rPr>
              <a:t>venv</a:t>
            </a:r>
            <a:endParaRPr dirty="0">
              <a:solidFill>
                <a:schemeClr val="bg1"/>
              </a:solidFill>
            </a:endParaRPr>
          </a:p>
          <a:p>
            <a:r>
              <a:rPr dirty="0">
                <a:solidFill>
                  <a:schemeClr val="bg1"/>
                </a:solidFill>
              </a:rPr>
              <a:t>.</a:t>
            </a:r>
            <a:r>
              <a:rPr dirty="0" err="1">
                <a:solidFill>
                  <a:schemeClr val="bg1"/>
                </a:solidFill>
              </a:rPr>
              <a:t>venv</a:t>
            </a:r>
            <a:r>
              <a:rPr dirty="0">
                <a:solidFill>
                  <a:schemeClr val="bg1"/>
                </a:solidFill>
              </a:rPr>
              <a:t>\Scripts\activate</a:t>
            </a:r>
          </a:p>
          <a:p>
            <a:r>
              <a:rPr dirty="0">
                <a:solidFill>
                  <a:schemeClr val="bg1"/>
                </a:solidFill>
              </a:rPr>
              <a:t>pip install -r requirements.txt</a:t>
            </a:r>
          </a:p>
          <a:p>
            <a:endParaRPr dirty="0">
              <a:solidFill>
                <a:schemeClr val="bg1"/>
              </a:solidFill>
            </a:endParaRPr>
          </a:p>
          <a:p>
            <a:r>
              <a:rPr dirty="0">
                <a:solidFill>
                  <a:schemeClr val="bg1"/>
                </a:solidFill>
              </a:rPr>
              <a:t># Run project</a:t>
            </a:r>
          </a:p>
          <a:p>
            <a:r>
              <a:rPr dirty="0">
                <a:solidFill>
                  <a:schemeClr val="bg1"/>
                </a:solidFill>
              </a:rPr>
              <a:t>python main.py</a:t>
            </a:r>
          </a:p>
        </p:txBody>
      </p:sp>
      <p:sp>
        <p:nvSpPr>
          <p:cNvPr id="19" name="Text 17"/>
          <p:cNvSpPr/>
          <p:nvPr/>
        </p:nvSpPr>
        <p:spPr>
          <a:xfrm>
            <a:off x="1005840" y="5486400"/>
            <a:ext cx="10058400" cy="274320"/>
          </a:xfrm>
          <a:prstGeom prst="rect">
            <a:avLst/>
          </a:prstGeom>
          <a:noFill/>
          <a:ln/>
        </p:spPr>
        <p:txBody>
          <a:bodyPr wrap="square" rtlCol="0" anchor="ctr"/>
          <a:lstStyle/>
          <a:p>
            <a:r>
              <a:rPr dirty="0">
                <a:solidFill>
                  <a:schemeClr val="bg1"/>
                </a:solidFill>
              </a:rPr>
              <a:t>This supports reproducibility: another user can clone the repository, install the same dependencies, and run the workflow from main.py.</a:t>
            </a:r>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Exploratory Data Analysis: Numeric Variables</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731520" y="1298448"/>
            <a:ext cx="5715000" cy="4480560"/>
          </a:xfrm>
          <a:prstGeom prst="roundRect">
            <a:avLst>
              <a:gd name="adj" fmla="val 2449"/>
            </a:avLst>
          </a:prstGeom>
          <a:solidFill>
            <a:srgbClr val="FFFFFF"/>
          </a:solidFill>
          <a:ln w="12700">
            <a:solidFill>
              <a:srgbClr val="CBD5E1">
                <a:alpha val="85000"/>
              </a:srgbClr>
            </a:solidFill>
            <a:prstDash val="solid"/>
          </a:ln>
        </p:spPr>
        <p:txBody>
          <a:bodyPr/>
          <a:lstStyle/>
          <a:p>
            <a:endParaRPr lang="en-US"/>
          </a:p>
        </p:txBody>
      </p:sp>
      <p:pic>
        <p:nvPicPr>
          <p:cNvPr id="6" name="Image 0" descr="/mnt/data/numeric_histograms.png"/>
          <p:cNvPicPr>
            <a:picLocks noChangeAspect="1"/>
          </p:cNvPicPr>
          <p:nvPr/>
        </p:nvPicPr>
        <p:blipFill>
          <a:blip r:embed="rId3"/>
          <a:stretch>
            <a:fillRect/>
          </a:stretch>
        </p:blipFill>
        <p:spPr>
          <a:xfrm>
            <a:off x="900684" y="1298448"/>
            <a:ext cx="5376672" cy="4480560"/>
          </a:xfrm>
          <a:prstGeom prst="rect">
            <a:avLst/>
          </a:prstGeom>
        </p:spPr>
      </p:pic>
      <p:sp>
        <p:nvSpPr>
          <p:cNvPr id="7" name="Shape 4"/>
          <p:cNvSpPr/>
          <p:nvPr/>
        </p:nvSpPr>
        <p:spPr>
          <a:xfrm>
            <a:off x="6720840" y="1298448"/>
            <a:ext cx="4754880" cy="2926080"/>
          </a:xfrm>
          <a:prstGeom prst="roundRect">
            <a:avLst>
              <a:gd name="adj" fmla="val 3750"/>
            </a:avLst>
          </a:prstGeom>
          <a:solidFill>
            <a:srgbClr val="FFFFFF"/>
          </a:solidFill>
          <a:ln w="12700">
            <a:solidFill>
              <a:srgbClr val="CBD5E1">
                <a:alpha val="85000"/>
              </a:srgbClr>
            </a:solidFill>
            <a:prstDash val="solid"/>
          </a:ln>
        </p:spPr>
        <p:txBody>
          <a:bodyPr/>
          <a:lstStyle/>
          <a:p>
            <a:endParaRPr lang="en-US"/>
          </a:p>
        </p:txBody>
      </p:sp>
      <p:pic>
        <p:nvPicPr>
          <p:cNvPr id="8" name="Image 1" descr="/mnt/data/age_by_education.png"/>
          <p:cNvPicPr>
            <a:picLocks noChangeAspect="1"/>
          </p:cNvPicPr>
          <p:nvPr/>
        </p:nvPicPr>
        <p:blipFill>
          <a:blip r:embed="rId4"/>
          <a:stretch>
            <a:fillRect/>
          </a:stretch>
        </p:blipFill>
        <p:spPr>
          <a:xfrm>
            <a:off x="6720840" y="1335024"/>
            <a:ext cx="4754880" cy="2852928"/>
          </a:xfrm>
          <a:prstGeom prst="rect">
            <a:avLst/>
          </a:prstGeom>
        </p:spPr>
      </p:pic>
      <p:sp>
        <p:nvSpPr>
          <p:cNvPr id="9" name="Shape 5"/>
          <p:cNvSpPr/>
          <p:nvPr/>
        </p:nvSpPr>
        <p:spPr>
          <a:xfrm>
            <a:off x="6720840" y="4526280"/>
            <a:ext cx="4754880" cy="1024128"/>
          </a:xfrm>
          <a:prstGeom prst="roundRect">
            <a:avLst>
              <a:gd name="adj" fmla="val 14286"/>
            </a:avLst>
          </a:prstGeom>
          <a:solidFill>
            <a:srgbClr val="1E293B">
              <a:alpha val="94000"/>
            </a:srgbClr>
          </a:solidFill>
          <a:ln w="12700">
            <a:solidFill>
              <a:srgbClr val="334155">
                <a:alpha val="75000"/>
              </a:srgbClr>
            </a:solidFill>
            <a:prstDash val="solid"/>
          </a:ln>
        </p:spPr>
        <p:txBody>
          <a:bodyPr/>
          <a:lstStyle/>
          <a:p>
            <a:endParaRPr lang="en-US"/>
          </a:p>
        </p:txBody>
      </p:sp>
      <p:sp>
        <p:nvSpPr>
          <p:cNvPr id="10" name="Shape 6"/>
          <p:cNvSpPr/>
          <p:nvPr/>
        </p:nvSpPr>
        <p:spPr>
          <a:xfrm>
            <a:off x="6720840" y="4526280"/>
            <a:ext cx="54864" cy="1024128"/>
          </a:xfrm>
          <a:prstGeom prst="rect">
            <a:avLst/>
          </a:prstGeom>
          <a:solidFill>
            <a:srgbClr val="38BDF8"/>
          </a:solidFill>
          <a:ln w="12700">
            <a:solidFill>
              <a:srgbClr val="38BDF8"/>
            </a:solidFill>
            <a:prstDash val="solid"/>
          </a:ln>
        </p:spPr>
        <p:txBody>
          <a:bodyPr/>
          <a:lstStyle/>
          <a:p>
            <a:endParaRPr lang="en-US"/>
          </a:p>
        </p:txBody>
      </p:sp>
      <p:sp>
        <p:nvSpPr>
          <p:cNvPr id="11" name="Text 7"/>
          <p:cNvSpPr/>
          <p:nvPr/>
        </p:nvSpPr>
        <p:spPr>
          <a:xfrm>
            <a:off x="6922008" y="4690872"/>
            <a:ext cx="438912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Main observations</a:t>
            </a:r>
            <a:endParaRPr lang="en-US" sz="1300" dirty="0"/>
          </a:p>
        </p:txBody>
      </p:sp>
      <p:sp>
        <p:nvSpPr>
          <p:cNvPr id="12" name="Text 8"/>
          <p:cNvSpPr/>
          <p:nvPr/>
        </p:nvSpPr>
        <p:spPr>
          <a:xfrm>
            <a:off x="6922008" y="5056632"/>
            <a:ext cx="4389120" cy="365760"/>
          </a:xfrm>
          <a:prstGeom prst="rect">
            <a:avLst/>
          </a:prstGeom>
          <a:noFill/>
          <a:ln/>
        </p:spPr>
        <p:txBody>
          <a:bodyPr wrap="square" rtlCol="0" anchor="t">
            <a:normAutofit fontScale="77500" lnSpcReduction="20000"/>
          </a:bodyPr>
          <a:lstStyle/>
          <a:p>
            <a:pPr marL="0" indent="0">
              <a:buNone/>
            </a:pPr>
            <a:r>
              <a:rPr lang="en-US" sz="1050" dirty="0">
                <a:solidFill>
                  <a:srgbClr val="CBD5E1"/>
                </a:solidFill>
                <a:latin typeface="Aptos" pitchFamily="34" charset="0"/>
                <a:ea typeface="Aptos" pitchFamily="34" charset="-122"/>
                <a:cs typeface="Aptos" pitchFamily="34" charset="-120"/>
              </a:rPr>
              <a:t>Age and employment experience are right-skewed. Loan amount and loan-percent-income also show skewness. Credit score is more centered compared with the other numeric variables.</a:t>
            </a:r>
            <a:endParaRPr lang="en-US" sz="1050" dirty="0"/>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Exploratory Data Analysis: Categories and Groups</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731520" y="1298448"/>
            <a:ext cx="5394960" cy="2971800"/>
          </a:xfrm>
          <a:prstGeom prst="roundRect">
            <a:avLst>
              <a:gd name="adj" fmla="val 3692"/>
            </a:avLst>
          </a:prstGeom>
          <a:solidFill>
            <a:srgbClr val="FFFFFF"/>
          </a:solidFill>
          <a:ln w="12700">
            <a:solidFill>
              <a:srgbClr val="CBD5E1">
                <a:alpha val="85000"/>
              </a:srgbClr>
            </a:solidFill>
            <a:prstDash val="solid"/>
          </a:ln>
        </p:spPr>
        <p:txBody>
          <a:bodyPr/>
          <a:lstStyle/>
          <a:p>
            <a:endParaRPr lang="en-US"/>
          </a:p>
        </p:txBody>
      </p:sp>
      <p:pic>
        <p:nvPicPr>
          <p:cNvPr id="6" name="Image 0" descr="/mnt/data/loan_intent_count.png"/>
          <p:cNvPicPr>
            <a:picLocks noChangeAspect="1"/>
          </p:cNvPicPr>
          <p:nvPr/>
        </p:nvPicPr>
        <p:blipFill>
          <a:blip r:embed="rId3"/>
          <a:stretch>
            <a:fillRect/>
          </a:stretch>
        </p:blipFill>
        <p:spPr>
          <a:xfrm>
            <a:off x="731520" y="1435608"/>
            <a:ext cx="5394960" cy="2697480"/>
          </a:xfrm>
          <a:prstGeom prst="rect">
            <a:avLst/>
          </a:prstGeom>
        </p:spPr>
      </p:pic>
      <p:sp>
        <p:nvSpPr>
          <p:cNvPr id="7" name="Shape 4"/>
          <p:cNvSpPr/>
          <p:nvPr/>
        </p:nvSpPr>
        <p:spPr>
          <a:xfrm>
            <a:off x="6446520" y="1298448"/>
            <a:ext cx="5029200" cy="2971800"/>
          </a:xfrm>
          <a:prstGeom prst="roundRect">
            <a:avLst>
              <a:gd name="adj" fmla="val 3692"/>
            </a:avLst>
          </a:prstGeom>
          <a:solidFill>
            <a:srgbClr val="FFFFFF"/>
          </a:solidFill>
          <a:ln w="12700">
            <a:solidFill>
              <a:srgbClr val="CBD5E1">
                <a:alpha val="85000"/>
              </a:srgbClr>
            </a:solidFill>
            <a:prstDash val="solid"/>
          </a:ln>
        </p:spPr>
        <p:txBody>
          <a:bodyPr/>
          <a:lstStyle/>
          <a:p>
            <a:endParaRPr lang="en-US"/>
          </a:p>
        </p:txBody>
      </p:sp>
      <p:pic>
        <p:nvPicPr>
          <p:cNvPr id="8" name="Image 1" descr="/mnt/data/income_home_ownership_gender.png"/>
          <p:cNvPicPr>
            <a:picLocks noChangeAspect="1"/>
          </p:cNvPicPr>
          <p:nvPr/>
        </p:nvPicPr>
        <p:blipFill>
          <a:blip r:embed="rId4"/>
          <a:stretch>
            <a:fillRect/>
          </a:stretch>
        </p:blipFill>
        <p:spPr>
          <a:xfrm>
            <a:off x="6484620" y="1298448"/>
            <a:ext cx="4953000" cy="2971800"/>
          </a:xfrm>
          <a:prstGeom prst="rect">
            <a:avLst/>
          </a:prstGeom>
        </p:spPr>
      </p:pic>
      <p:sp>
        <p:nvSpPr>
          <p:cNvPr id="9" name="Shape 5"/>
          <p:cNvSpPr/>
          <p:nvPr/>
        </p:nvSpPr>
        <p:spPr>
          <a:xfrm>
            <a:off x="914400" y="4681728"/>
            <a:ext cx="5120640" cy="868680"/>
          </a:xfrm>
          <a:prstGeom prst="roundRect">
            <a:avLst>
              <a:gd name="adj" fmla="val 16842"/>
            </a:avLst>
          </a:prstGeom>
          <a:solidFill>
            <a:srgbClr val="1E293B">
              <a:alpha val="94000"/>
            </a:srgbClr>
          </a:solidFill>
          <a:ln w="12700">
            <a:solidFill>
              <a:srgbClr val="334155">
                <a:alpha val="75000"/>
              </a:srgbClr>
            </a:solidFill>
            <a:prstDash val="solid"/>
          </a:ln>
        </p:spPr>
        <p:txBody>
          <a:bodyPr/>
          <a:lstStyle/>
          <a:p>
            <a:endParaRPr lang="en-US"/>
          </a:p>
        </p:txBody>
      </p:sp>
      <p:sp>
        <p:nvSpPr>
          <p:cNvPr id="10" name="Shape 6"/>
          <p:cNvSpPr/>
          <p:nvPr/>
        </p:nvSpPr>
        <p:spPr>
          <a:xfrm>
            <a:off x="914400" y="4681728"/>
            <a:ext cx="54864" cy="868680"/>
          </a:xfrm>
          <a:prstGeom prst="rect">
            <a:avLst/>
          </a:prstGeom>
          <a:solidFill>
            <a:srgbClr val="22C55E"/>
          </a:solidFill>
          <a:ln w="12700">
            <a:solidFill>
              <a:srgbClr val="22C55E"/>
            </a:solidFill>
            <a:prstDash val="solid"/>
          </a:ln>
        </p:spPr>
        <p:txBody>
          <a:bodyPr/>
          <a:lstStyle/>
          <a:p>
            <a:endParaRPr lang="en-US"/>
          </a:p>
        </p:txBody>
      </p:sp>
      <p:sp>
        <p:nvSpPr>
          <p:cNvPr id="11" name="Text 7"/>
          <p:cNvSpPr/>
          <p:nvPr/>
        </p:nvSpPr>
        <p:spPr>
          <a:xfrm>
            <a:off x="1115568" y="4846320"/>
            <a:ext cx="475488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Loan intent</a:t>
            </a:r>
            <a:endParaRPr lang="en-US" sz="1300" dirty="0"/>
          </a:p>
        </p:txBody>
      </p:sp>
      <p:sp>
        <p:nvSpPr>
          <p:cNvPr id="12" name="Text 8"/>
          <p:cNvSpPr/>
          <p:nvPr/>
        </p:nvSpPr>
        <p:spPr>
          <a:xfrm>
            <a:off x="1115568" y="5212080"/>
            <a:ext cx="4754880" cy="210312"/>
          </a:xfrm>
          <a:prstGeom prst="rect">
            <a:avLst/>
          </a:prstGeom>
          <a:noFill/>
          <a:ln/>
        </p:spPr>
        <p:txBody>
          <a:bodyPr wrap="square" rtlCol="0" anchor="t">
            <a:normAutofit fontScale="55000" lnSpcReduction="20000"/>
          </a:bodyPr>
          <a:lstStyle/>
          <a:p>
            <a:pPr marL="0" indent="0">
              <a:buNone/>
            </a:pPr>
            <a:r>
              <a:rPr lang="en-US" sz="1050" dirty="0">
                <a:solidFill>
                  <a:srgbClr val="CBD5E1"/>
                </a:solidFill>
                <a:latin typeface="Aptos" pitchFamily="34" charset="0"/>
                <a:ea typeface="Aptos" pitchFamily="34" charset="-122"/>
                <a:cs typeface="Aptos" pitchFamily="34" charset="-120"/>
              </a:rPr>
              <a:t>Education and medical purposes appear among the most common loan reasons, while debt consolidation is lower in this visual output.</a:t>
            </a:r>
            <a:endParaRPr lang="en-US" sz="1050" dirty="0"/>
          </a:p>
        </p:txBody>
      </p:sp>
      <p:sp>
        <p:nvSpPr>
          <p:cNvPr id="13" name="Shape 9"/>
          <p:cNvSpPr/>
          <p:nvPr/>
        </p:nvSpPr>
        <p:spPr>
          <a:xfrm>
            <a:off x="6446520" y="4681728"/>
            <a:ext cx="5029200" cy="868680"/>
          </a:xfrm>
          <a:prstGeom prst="roundRect">
            <a:avLst>
              <a:gd name="adj" fmla="val 16842"/>
            </a:avLst>
          </a:prstGeom>
          <a:solidFill>
            <a:srgbClr val="1E293B">
              <a:alpha val="94000"/>
            </a:srgbClr>
          </a:solidFill>
          <a:ln w="12700">
            <a:solidFill>
              <a:srgbClr val="334155">
                <a:alpha val="75000"/>
              </a:srgbClr>
            </a:solidFill>
            <a:prstDash val="solid"/>
          </a:ln>
        </p:spPr>
        <p:txBody>
          <a:bodyPr/>
          <a:lstStyle/>
          <a:p>
            <a:endParaRPr lang="en-US"/>
          </a:p>
        </p:txBody>
      </p:sp>
      <p:sp>
        <p:nvSpPr>
          <p:cNvPr id="14" name="Shape 10"/>
          <p:cNvSpPr/>
          <p:nvPr/>
        </p:nvSpPr>
        <p:spPr>
          <a:xfrm>
            <a:off x="6446520" y="4681728"/>
            <a:ext cx="54864" cy="868680"/>
          </a:xfrm>
          <a:prstGeom prst="rect">
            <a:avLst/>
          </a:prstGeom>
          <a:solidFill>
            <a:srgbClr val="F59E0B"/>
          </a:solidFill>
          <a:ln w="12700">
            <a:solidFill>
              <a:srgbClr val="F59E0B"/>
            </a:solidFill>
            <a:prstDash val="solid"/>
          </a:ln>
        </p:spPr>
        <p:txBody>
          <a:bodyPr/>
          <a:lstStyle/>
          <a:p>
            <a:endParaRPr lang="en-US"/>
          </a:p>
        </p:txBody>
      </p:sp>
      <p:sp>
        <p:nvSpPr>
          <p:cNvPr id="15" name="Text 11"/>
          <p:cNvSpPr/>
          <p:nvPr/>
        </p:nvSpPr>
        <p:spPr>
          <a:xfrm>
            <a:off x="6647688" y="4846320"/>
            <a:ext cx="466344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Income and ownership</a:t>
            </a:r>
            <a:endParaRPr lang="en-US" sz="1300" dirty="0"/>
          </a:p>
        </p:txBody>
      </p:sp>
      <p:sp>
        <p:nvSpPr>
          <p:cNvPr id="16" name="Text 12"/>
          <p:cNvSpPr/>
          <p:nvPr/>
        </p:nvSpPr>
        <p:spPr>
          <a:xfrm>
            <a:off x="6647688" y="5212080"/>
            <a:ext cx="4663440" cy="210312"/>
          </a:xfrm>
          <a:prstGeom prst="rect">
            <a:avLst/>
          </a:prstGeom>
          <a:noFill/>
          <a:ln/>
        </p:spPr>
        <p:txBody>
          <a:bodyPr wrap="square" rtlCol="0" anchor="t">
            <a:normAutofit fontScale="55000" lnSpcReduction="20000"/>
          </a:bodyPr>
          <a:lstStyle/>
          <a:p>
            <a:pPr marL="0" indent="0">
              <a:buNone/>
            </a:pPr>
            <a:r>
              <a:rPr lang="en-US" sz="1050" dirty="0">
                <a:solidFill>
                  <a:srgbClr val="CBD5E1"/>
                </a:solidFill>
                <a:latin typeface="Aptos" pitchFamily="34" charset="0"/>
                <a:ea typeface="Aptos" pitchFamily="34" charset="-122"/>
                <a:cs typeface="Aptos" pitchFamily="34" charset="-120"/>
              </a:rPr>
              <a:t>Income differs by home ownership category. Mortgage/other groups show higher average income than rent/own groups.</a:t>
            </a:r>
            <a:endParaRPr lang="en-US" sz="1050" dirty="0"/>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Cleaning and Preprocessing Decisions</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822960" y="1325880"/>
            <a:ext cx="3429000" cy="1325880"/>
          </a:xfrm>
          <a:prstGeom prst="roundRect">
            <a:avLst>
              <a:gd name="adj" fmla="val 11034"/>
            </a:avLst>
          </a:prstGeom>
          <a:solidFill>
            <a:srgbClr val="1E293B">
              <a:alpha val="94000"/>
            </a:srgbClr>
          </a:solidFill>
          <a:ln w="12700">
            <a:solidFill>
              <a:srgbClr val="334155">
                <a:alpha val="75000"/>
              </a:srgbClr>
            </a:solidFill>
            <a:prstDash val="solid"/>
          </a:ln>
        </p:spPr>
        <p:txBody>
          <a:bodyPr/>
          <a:lstStyle/>
          <a:p>
            <a:endParaRPr lang="en-US"/>
          </a:p>
        </p:txBody>
      </p:sp>
      <p:sp>
        <p:nvSpPr>
          <p:cNvPr id="6" name="Shape 4"/>
          <p:cNvSpPr/>
          <p:nvPr/>
        </p:nvSpPr>
        <p:spPr>
          <a:xfrm>
            <a:off x="822960" y="1325880"/>
            <a:ext cx="54864" cy="1325880"/>
          </a:xfrm>
          <a:prstGeom prst="rect">
            <a:avLst/>
          </a:prstGeom>
          <a:solidFill>
            <a:srgbClr val="38BDF8"/>
          </a:solidFill>
          <a:ln w="12700">
            <a:solidFill>
              <a:srgbClr val="38BDF8"/>
            </a:solidFill>
            <a:prstDash val="solid"/>
          </a:ln>
        </p:spPr>
        <p:txBody>
          <a:bodyPr/>
          <a:lstStyle/>
          <a:p>
            <a:endParaRPr lang="en-US"/>
          </a:p>
        </p:txBody>
      </p:sp>
      <p:sp>
        <p:nvSpPr>
          <p:cNvPr id="7" name="Text 5"/>
          <p:cNvSpPr/>
          <p:nvPr/>
        </p:nvSpPr>
        <p:spPr>
          <a:xfrm>
            <a:off x="1024128" y="1490472"/>
            <a:ext cx="306324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Outlier handling</a:t>
            </a:r>
            <a:endParaRPr lang="en-US" sz="1300" dirty="0"/>
          </a:p>
        </p:txBody>
      </p:sp>
      <p:sp>
        <p:nvSpPr>
          <p:cNvPr id="8" name="Text 6"/>
          <p:cNvSpPr/>
          <p:nvPr/>
        </p:nvSpPr>
        <p:spPr>
          <a:xfrm>
            <a:off x="1024128" y="1856232"/>
            <a:ext cx="3063240" cy="66751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Age &gt; 100, income above the selected threshold, and unrealistic employment experience were replaced with missing values.</a:t>
            </a:r>
            <a:endParaRPr lang="en-US" sz="1050" dirty="0"/>
          </a:p>
        </p:txBody>
      </p:sp>
      <p:sp>
        <p:nvSpPr>
          <p:cNvPr id="9" name="Shape 7"/>
          <p:cNvSpPr/>
          <p:nvPr/>
        </p:nvSpPr>
        <p:spPr>
          <a:xfrm>
            <a:off x="4480560" y="1325880"/>
            <a:ext cx="3429000" cy="1325880"/>
          </a:xfrm>
          <a:prstGeom prst="roundRect">
            <a:avLst>
              <a:gd name="adj" fmla="val 11034"/>
            </a:avLst>
          </a:prstGeom>
          <a:solidFill>
            <a:srgbClr val="1E293B">
              <a:alpha val="94000"/>
            </a:srgbClr>
          </a:solidFill>
          <a:ln w="12700">
            <a:solidFill>
              <a:srgbClr val="334155">
                <a:alpha val="75000"/>
              </a:srgbClr>
            </a:solidFill>
            <a:prstDash val="solid"/>
          </a:ln>
        </p:spPr>
        <p:txBody>
          <a:bodyPr/>
          <a:lstStyle/>
          <a:p>
            <a:endParaRPr lang="en-US"/>
          </a:p>
        </p:txBody>
      </p:sp>
      <p:sp>
        <p:nvSpPr>
          <p:cNvPr id="10" name="Shape 8"/>
          <p:cNvSpPr/>
          <p:nvPr/>
        </p:nvSpPr>
        <p:spPr>
          <a:xfrm>
            <a:off x="4480560" y="1325880"/>
            <a:ext cx="54864" cy="1325880"/>
          </a:xfrm>
          <a:prstGeom prst="rect">
            <a:avLst/>
          </a:prstGeom>
          <a:solidFill>
            <a:srgbClr val="22C55E"/>
          </a:solidFill>
          <a:ln w="12700">
            <a:solidFill>
              <a:srgbClr val="22C55E"/>
            </a:solidFill>
            <a:prstDash val="solid"/>
          </a:ln>
        </p:spPr>
        <p:txBody>
          <a:bodyPr/>
          <a:lstStyle/>
          <a:p>
            <a:endParaRPr lang="en-US"/>
          </a:p>
        </p:txBody>
      </p:sp>
      <p:sp>
        <p:nvSpPr>
          <p:cNvPr id="11" name="Text 9"/>
          <p:cNvSpPr/>
          <p:nvPr/>
        </p:nvSpPr>
        <p:spPr>
          <a:xfrm>
            <a:off x="4681728" y="1490472"/>
            <a:ext cx="306324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Categorical encoding</a:t>
            </a:r>
            <a:endParaRPr lang="en-US" sz="1300" dirty="0"/>
          </a:p>
        </p:txBody>
      </p:sp>
      <p:sp>
        <p:nvSpPr>
          <p:cNvPr id="12" name="Text 10"/>
          <p:cNvSpPr/>
          <p:nvPr/>
        </p:nvSpPr>
        <p:spPr>
          <a:xfrm>
            <a:off x="4681728" y="1856232"/>
            <a:ext cx="3063240" cy="66751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String variables were converted using one-hot encoding so that scikit-learn models could read them.</a:t>
            </a:r>
            <a:endParaRPr lang="en-US" sz="1050" dirty="0"/>
          </a:p>
        </p:txBody>
      </p:sp>
      <p:sp>
        <p:nvSpPr>
          <p:cNvPr id="13" name="Shape 11"/>
          <p:cNvSpPr/>
          <p:nvPr/>
        </p:nvSpPr>
        <p:spPr>
          <a:xfrm>
            <a:off x="8138160" y="1325880"/>
            <a:ext cx="3291840" cy="1325880"/>
          </a:xfrm>
          <a:prstGeom prst="roundRect">
            <a:avLst>
              <a:gd name="adj" fmla="val 11034"/>
            </a:avLst>
          </a:prstGeom>
          <a:solidFill>
            <a:srgbClr val="1E293B">
              <a:alpha val="94000"/>
            </a:srgbClr>
          </a:solidFill>
          <a:ln w="12700">
            <a:solidFill>
              <a:srgbClr val="334155">
                <a:alpha val="75000"/>
              </a:srgbClr>
            </a:solidFill>
            <a:prstDash val="solid"/>
          </a:ln>
        </p:spPr>
        <p:txBody>
          <a:bodyPr/>
          <a:lstStyle/>
          <a:p>
            <a:endParaRPr lang="en-US"/>
          </a:p>
        </p:txBody>
      </p:sp>
      <p:sp>
        <p:nvSpPr>
          <p:cNvPr id="14" name="Shape 12"/>
          <p:cNvSpPr/>
          <p:nvPr/>
        </p:nvSpPr>
        <p:spPr>
          <a:xfrm>
            <a:off x="8138160" y="1325880"/>
            <a:ext cx="54864" cy="1325880"/>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8339328" y="1490472"/>
            <a:ext cx="292608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Train-test split</a:t>
            </a:r>
            <a:endParaRPr lang="en-US" sz="1300" dirty="0"/>
          </a:p>
        </p:txBody>
      </p:sp>
      <p:sp>
        <p:nvSpPr>
          <p:cNvPr id="16" name="Text 14"/>
          <p:cNvSpPr/>
          <p:nvPr/>
        </p:nvSpPr>
        <p:spPr>
          <a:xfrm>
            <a:off x="8339328" y="1856232"/>
            <a:ext cx="2926080" cy="66751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The dataset was split into training and testing sets using a 75/25 split and fixed random seed.</a:t>
            </a:r>
            <a:endParaRPr lang="en-US" sz="1050" dirty="0"/>
          </a:p>
        </p:txBody>
      </p:sp>
      <p:sp>
        <p:nvSpPr>
          <p:cNvPr id="17" name="Shape 15"/>
          <p:cNvSpPr/>
          <p:nvPr/>
        </p:nvSpPr>
        <p:spPr>
          <a:xfrm>
            <a:off x="1280160" y="3337560"/>
            <a:ext cx="9601200" cy="1554480"/>
          </a:xfrm>
          <a:prstGeom prst="roundRect">
            <a:avLst>
              <a:gd name="adj" fmla="val 7059"/>
            </a:avLst>
          </a:prstGeom>
          <a:solidFill>
            <a:srgbClr val="020617"/>
          </a:solidFill>
          <a:ln w="12700">
            <a:solidFill>
              <a:srgbClr val="334155"/>
            </a:solidFill>
            <a:prstDash val="solid"/>
          </a:ln>
        </p:spPr>
        <p:txBody>
          <a:bodyPr/>
          <a:lstStyle/>
          <a:p>
            <a:endParaRPr lang="en-US"/>
          </a:p>
        </p:txBody>
      </p:sp>
      <p:sp>
        <p:nvSpPr>
          <p:cNvPr id="18" name="Text 16"/>
          <p:cNvSpPr/>
          <p:nvPr/>
        </p:nvSpPr>
        <p:spPr>
          <a:xfrm>
            <a:off x="1463040" y="3502152"/>
            <a:ext cx="9235440" cy="1225296"/>
          </a:xfrm>
          <a:prstGeom prst="rect">
            <a:avLst/>
          </a:prstGeom>
          <a:noFill/>
          <a:ln/>
        </p:spPr>
        <p:txBody>
          <a:bodyPr wrap="square" rtlCol="0" anchor="ctr">
            <a:normAutofit/>
          </a:bodyPr>
          <a:lstStyle/>
          <a:p>
            <a:pPr marL="0" indent="0">
              <a:buNone/>
            </a:pPr>
            <a:r>
              <a:rPr lang="en-US" sz="930" dirty="0">
                <a:solidFill>
                  <a:srgbClr val="E2E8F0"/>
                </a:solidFill>
                <a:latin typeface="Cascadia Mono" pitchFamily="34" charset="0"/>
                <a:ea typeface="Cascadia Mono" pitchFamily="34" charset="-122"/>
                <a:cs typeface="Cascadia Mono" pitchFamily="34" charset="-120"/>
              </a:rPr>
              <a:t>X = pd.get_dummies(</a:t>
            </a:r>
            <a:endParaRPr lang="en-US" sz="930" dirty="0"/>
          </a:p>
          <a:p>
            <a:pPr marL="0" indent="0">
              <a:buNone/>
            </a:pPr>
            <a:r>
              <a:rPr lang="en-US" sz="930" dirty="0">
                <a:solidFill>
                  <a:srgbClr val="E2E8F0"/>
                </a:solidFill>
                <a:latin typeface="Cascadia Mono" pitchFamily="34" charset="0"/>
                <a:ea typeface="Cascadia Mono" pitchFamily="34" charset="-122"/>
                <a:cs typeface="Cascadia Mono" pitchFamily="34" charset="-120"/>
              </a:rPr>
              <a:t>    encoded_loan.drop(columns=['loan_status']),</a:t>
            </a:r>
            <a:endParaRPr lang="en-US" sz="930" dirty="0"/>
          </a:p>
          <a:p>
            <a:pPr marL="0" indent="0">
              <a:buNone/>
            </a:pPr>
            <a:r>
              <a:rPr lang="en-US" sz="930" dirty="0">
                <a:solidFill>
                  <a:srgbClr val="E2E8F0"/>
                </a:solidFill>
                <a:latin typeface="Cascadia Mono" pitchFamily="34" charset="0"/>
                <a:ea typeface="Cascadia Mono" pitchFamily="34" charset="-122"/>
                <a:cs typeface="Cascadia Mono" pitchFamily="34" charset="-120"/>
              </a:rPr>
              <a:t>    drop_first=True</a:t>
            </a:r>
            <a:endParaRPr lang="en-US" sz="930" dirty="0"/>
          </a:p>
          <a:p>
            <a:pPr marL="0" indent="0">
              <a:buNone/>
            </a:pPr>
            <a:r>
              <a:rPr lang="en-US" sz="930" dirty="0">
                <a:solidFill>
                  <a:srgbClr val="E2E8F0"/>
                </a:solidFill>
                <a:latin typeface="Cascadia Mono" pitchFamily="34" charset="0"/>
                <a:ea typeface="Cascadia Mono" pitchFamily="34" charset="-122"/>
                <a:cs typeface="Cascadia Mono" pitchFamily="34" charset="-120"/>
              </a:rPr>
              <a:t>)</a:t>
            </a:r>
            <a:endParaRPr lang="en-US" sz="930" dirty="0"/>
          </a:p>
          <a:p>
            <a:pPr marL="0" indent="0">
              <a:buNone/>
            </a:pPr>
            <a:r>
              <a:rPr lang="en-US" sz="930" dirty="0">
                <a:solidFill>
                  <a:srgbClr val="E2E8F0"/>
                </a:solidFill>
                <a:latin typeface="Cascadia Mono" pitchFamily="34" charset="0"/>
                <a:ea typeface="Cascadia Mono" pitchFamily="34" charset="-122"/>
                <a:cs typeface="Cascadia Mono" pitchFamily="34" charset="-120"/>
              </a:rPr>
              <a:t>y = encoded_loan['loan_status']</a:t>
            </a:r>
            <a:endParaRPr lang="en-US" sz="930" dirty="0"/>
          </a:p>
          <a:p>
            <a:pPr marL="0" indent="0">
              <a:buNone/>
            </a:pPr>
            <a:endParaRPr lang="en-US" sz="930" dirty="0"/>
          </a:p>
          <a:p>
            <a:pPr marL="0" indent="0">
              <a:buNone/>
            </a:pPr>
            <a:r>
              <a:rPr lang="en-US" sz="930" dirty="0">
                <a:solidFill>
                  <a:srgbClr val="E2E8F0"/>
                </a:solidFill>
                <a:latin typeface="Cascadia Mono" pitchFamily="34" charset="0"/>
                <a:ea typeface="Cascadia Mono" pitchFamily="34" charset="-122"/>
                <a:cs typeface="Cascadia Mono" pitchFamily="34" charset="-120"/>
              </a:rPr>
              <a:t>train_test_split(X, y, test_size=0.25, random_state=1234)</a:t>
            </a:r>
            <a:endParaRPr lang="en-US" sz="930" dirty="0"/>
          </a:p>
        </p:txBody>
      </p:sp>
      <p:sp>
        <p:nvSpPr>
          <p:cNvPr id="19" name="Text 17"/>
          <p:cNvSpPr/>
          <p:nvPr/>
        </p:nvSpPr>
        <p:spPr>
          <a:xfrm>
            <a:off x="1097280" y="5486400"/>
            <a:ext cx="9875520" cy="274320"/>
          </a:xfrm>
          <a:prstGeom prst="rect">
            <a:avLst/>
          </a:prstGeom>
          <a:noFill/>
          <a:ln/>
        </p:spPr>
        <p:txBody>
          <a:bodyPr wrap="square" rtlCol="0" anchor="ctr"/>
          <a:lstStyle/>
          <a:p>
            <a:pPr marL="0" indent="0" algn="ctr">
              <a:buNone/>
            </a:pPr>
            <a:r>
              <a:rPr lang="en-US" sz="1300" b="1" dirty="0">
                <a:solidFill>
                  <a:srgbClr val="F8FAFC"/>
                </a:solidFill>
              </a:rPr>
              <a:t>These choices translate the R workflow into the Python/scikit-learn format.</a:t>
            </a:r>
            <a:endParaRPr lang="en-US" sz="1300" dirty="0"/>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Model 1: Decision Tree Classifier</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594360" y="1234440"/>
            <a:ext cx="7589520" cy="4937760"/>
          </a:xfrm>
          <a:prstGeom prst="roundRect">
            <a:avLst>
              <a:gd name="adj" fmla="val 2222"/>
            </a:avLst>
          </a:prstGeom>
          <a:solidFill>
            <a:srgbClr val="FFFFFF"/>
          </a:solidFill>
          <a:ln w="12700">
            <a:solidFill>
              <a:srgbClr val="CBD5E1">
                <a:alpha val="85000"/>
              </a:srgbClr>
            </a:solidFill>
            <a:prstDash val="solid"/>
          </a:ln>
        </p:spPr>
        <p:txBody>
          <a:bodyPr/>
          <a:lstStyle/>
          <a:p>
            <a:endParaRPr lang="en-US"/>
          </a:p>
        </p:txBody>
      </p:sp>
      <p:pic>
        <p:nvPicPr>
          <p:cNvPr id="6" name="Image 0" descr="/mnt/data/decision_tree.png"/>
          <p:cNvPicPr>
            <a:picLocks noChangeAspect="1"/>
          </p:cNvPicPr>
          <p:nvPr/>
        </p:nvPicPr>
        <p:blipFill>
          <a:blip r:embed="rId3"/>
          <a:stretch>
            <a:fillRect/>
          </a:stretch>
        </p:blipFill>
        <p:spPr>
          <a:xfrm>
            <a:off x="594360" y="1805940"/>
            <a:ext cx="7589520" cy="3794760"/>
          </a:xfrm>
          <a:prstGeom prst="rect">
            <a:avLst/>
          </a:prstGeom>
        </p:spPr>
      </p:pic>
      <p:sp>
        <p:nvSpPr>
          <p:cNvPr id="7" name="Shape 4"/>
          <p:cNvSpPr/>
          <p:nvPr/>
        </p:nvSpPr>
        <p:spPr>
          <a:xfrm>
            <a:off x="8503920" y="1417320"/>
            <a:ext cx="2651760" cy="1143000"/>
          </a:xfrm>
          <a:prstGeom prst="roundRect">
            <a:avLst>
              <a:gd name="adj" fmla="val 12800"/>
            </a:avLst>
          </a:prstGeom>
          <a:solidFill>
            <a:srgbClr val="1E293B">
              <a:alpha val="95000"/>
            </a:srgbClr>
          </a:solidFill>
          <a:ln w="12700">
            <a:solidFill>
              <a:srgbClr val="334155">
                <a:alpha val="85000"/>
              </a:srgbClr>
            </a:solidFill>
            <a:prstDash val="solid"/>
          </a:ln>
        </p:spPr>
        <p:txBody>
          <a:bodyPr/>
          <a:lstStyle/>
          <a:p>
            <a:endParaRPr lang="en-US"/>
          </a:p>
        </p:txBody>
      </p:sp>
      <p:sp>
        <p:nvSpPr>
          <p:cNvPr id="8" name="Text 5"/>
          <p:cNvSpPr/>
          <p:nvPr/>
        </p:nvSpPr>
        <p:spPr>
          <a:xfrm>
            <a:off x="8595360" y="1581912"/>
            <a:ext cx="2468880" cy="347472"/>
          </a:xfrm>
          <a:prstGeom prst="rect">
            <a:avLst/>
          </a:prstGeom>
          <a:noFill/>
          <a:ln/>
        </p:spPr>
        <p:txBody>
          <a:bodyPr wrap="square" rtlCol="0" anchor="ctr"/>
          <a:lstStyle/>
          <a:p>
            <a:pPr marL="0" indent="0">
              <a:buNone/>
            </a:pPr>
            <a:r>
              <a:rPr lang="en-US" sz="2500" b="1" dirty="0">
                <a:solidFill>
                  <a:srgbClr val="38BDF8"/>
                </a:solidFill>
                <a:latin typeface="Aptos Display" pitchFamily="34" charset="0"/>
                <a:ea typeface="Aptos Display" pitchFamily="34" charset="-122"/>
                <a:cs typeface="Aptos Display" pitchFamily="34" charset="-120"/>
              </a:rPr>
              <a:t>90.77%</a:t>
            </a:r>
            <a:endParaRPr lang="en-US" sz="2500" dirty="0"/>
          </a:p>
        </p:txBody>
      </p:sp>
      <p:sp>
        <p:nvSpPr>
          <p:cNvPr id="9" name="Text 6"/>
          <p:cNvSpPr/>
          <p:nvPr/>
        </p:nvSpPr>
        <p:spPr>
          <a:xfrm>
            <a:off x="8613648" y="2075688"/>
            <a:ext cx="243230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test accuracy</a:t>
            </a:r>
            <a:endParaRPr lang="en-US" sz="950" dirty="0"/>
          </a:p>
        </p:txBody>
      </p:sp>
      <p:sp>
        <p:nvSpPr>
          <p:cNvPr id="10" name="Shape 7"/>
          <p:cNvSpPr/>
          <p:nvPr/>
        </p:nvSpPr>
        <p:spPr>
          <a:xfrm>
            <a:off x="8503920" y="2743200"/>
            <a:ext cx="2651760" cy="1417320"/>
          </a:xfrm>
          <a:prstGeom prst="roundRect">
            <a:avLst>
              <a:gd name="adj" fmla="val 10323"/>
            </a:avLst>
          </a:prstGeom>
          <a:solidFill>
            <a:srgbClr val="1E293B">
              <a:alpha val="94000"/>
            </a:srgbClr>
          </a:solidFill>
          <a:ln w="12700">
            <a:solidFill>
              <a:srgbClr val="334155">
                <a:alpha val="75000"/>
              </a:srgbClr>
            </a:solidFill>
            <a:prstDash val="solid"/>
          </a:ln>
        </p:spPr>
        <p:txBody>
          <a:bodyPr/>
          <a:lstStyle/>
          <a:p>
            <a:endParaRPr lang="en-US"/>
          </a:p>
        </p:txBody>
      </p:sp>
      <p:sp>
        <p:nvSpPr>
          <p:cNvPr id="11" name="Shape 8"/>
          <p:cNvSpPr/>
          <p:nvPr/>
        </p:nvSpPr>
        <p:spPr>
          <a:xfrm>
            <a:off x="8503920" y="2743200"/>
            <a:ext cx="54864" cy="1417320"/>
          </a:xfrm>
          <a:prstGeom prst="rect">
            <a:avLst/>
          </a:prstGeom>
          <a:solidFill>
            <a:srgbClr val="22C55E"/>
          </a:solidFill>
          <a:ln w="12700">
            <a:solidFill>
              <a:srgbClr val="22C55E"/>
            </a:solidFill>
            <a:prstDash val="solid"/>
          </a:ln>
        </p:spPr>
        <p:txBody>
          <a:bodyPr/>
          <a:lstStyle/>
          <a:p>
            <a:endParaRPr lang="en-US"/>
          </a:p>
        </p:txBody>
      </p:sp>
      <p:sp>
        <p:nvSpPr>
          <p:cNvPr id="12" name="Text 9"/>
          <p:cNvSpPr/>
          <p:nvPr/>
        </p:nvSpPr>
        <p:spPr>
          <a:xfrm>
            <a:off x="8705088" y="2907792"/>
            <a:ext cx="228600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Why this model?</a:t>
            </a:r>
            <a:endParaRPr lang="en-US" sz="1300" dirty="0"/>
          </a:p>
        </p:txBody>
      </p:sp>
      <p:sp>
        <p:nvSpPr>
          <p:cNvPr id="13" name="Text 10"/>
          <p:cNvSpPr/>
          <p:nvPr/>
        </p:nvSpPr>
        <p:spPr>
          <a:xfrm>
            <a:off x="8705088" y="3273552"/>
            <a:ext cx="2286000" cy="75895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Decision Trees are interpretable and show which variables split the data.</a:t>
            </a:r>
            <a:endParaRPr lang="en-US" sz="1050" dirty="0"/>
          </a:p>
        </p:txBody>
      </p:sp>
      <p:sp>
        <p:nvSpPr>
          <p:cNvPr id="14" name="Shape 11"/>
          <p:cNvSpPr/>
          <p:nvPr/>
        </p:nvSpPr>
        <p:spPr>
          <a:xfrm>
            <a:off x="8503920" y="4434840"/>
            <a:ext cx="2651760" cy="1097280"/>
          </a:xfrm>
          <a:prstGeom prst="roundRect">
            <a:avLst>
              <a:gd name="adj" fmla="val 13333"/>
            </a:avLst>
          </a:prstGeom>
          <a:solidFill>
            <a:srgbClr val="1E293B">
              <a:alpha val="94000"/>
            </a:srgbClr>
          </a:solidFill>
          <a:ln w="12700">
            <a:solidFill>
              <a:srgbClr val="334155">
                <a:alpha val="75000"/>
              </a:srgbClr>
            </a:solidFill>
            <a:prstDash val="solid"/>
          </a:ln>
        </p:spPr>
        <p:txBody>
          <a:bodyPr/>
          <a:lstStyle/>
          <a:p>
            <a:endParaRPr lang="en-US"/>
          </a:p>
        </p:txBody>
      </p:sp>
      <p:sp>
        <p:nvSpPr>
          <p:cNvPr id="15" name="Shape 12"/>
          <p:cNvSpPr/>
          <p:nvPr/>
        </p:nvSpPr>
        <p:spPr>
          <a:xfrm>
            <a:off x="8503920" y="4434840"/>
            <a:ext cx="54864" cy="1097280"/>
          </a:xfrm>
          <a:prstGeom prst="rect">
            <a:avLst/>
          </a:prstGeom>
          <a:solidFill>
            <a:srgbClr val="F59E0B"/>
          </a:solidFill>
          <a:ln w="12700">
            <a:solidFill>
              <a:srgbClr val="F59E0B"/>
            </a:solidFill>
            <a:prstDash val="solid"/>
          </a:ln>
        </p:spPr>
        <p:txBody>
          <a:bodyPr/>
          <a:lstStyle/>
          <a:p>
            <a:endParaRPr lang="en-US"/>
          </a:p>
        </p:txBody>
      </p:sp>
      <p:sp>
        <p:nvSpPr>
          <p:cNvPr id="16" name="Text 13"/>
          <p:cNvSpPr/>
          <p:nvPr/>
        </p:nvSpPr>
        <p:spPr>
          <a:xfrm>
            <a:off x="8705088" y="4599432"/>
            <a:ext cx="228600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Important first split</a:t>
            </a:r>
            <a:endParaRPr lang="en-US" sz="1300" dirty="0"/>
          </a:p>
        </p:txBody>
      </p:sp>
      <p:sp>
        <p:nvSpPr>
          <p:cNvPr id="17" name="Text 14"/>
          <p:cNvSpPr/>
          <p:nvPr/>
        </p:nvSpPr>
        <p:spPr>
          <a:xfrm>
            <a:off x="8705088" y="4965192"/>
            <a:ext cx="2286000" cy="438912"/>
          </a:xfrm>
          <a:prstGeom prst="rect">
            <a:avLst/>
          </a:prstGeom>
          <a:noFill/>
          <a:ln/>
        </p:spPr>
        <p:txBody>
          <a:bodyPr wrap="square" rtlCol="0" anchor="t">
            <a:normAutofit fontScale="85000" lnSpcReduction="10000"/>
          </a:bodyPr>
          <a:lstStyle/>
          <a:p>
            <a:pPr marL="0" indent="0">
              <a:buNone/>
            </a:pPr>
            <a:r>
              <a:rPr lang="en-US" sz="1050" dirty="0">
                <a:solidFill>
                  <a:srgbClr val="CBD5E1"/>
                </a:solidFill>
                <a:latin typeface="Aptos" pitchFamily="34" charset="0"/>
                <a:ea typeface="Aptos" pitchFamily="34" charset="-122"/>
                <a:cs typeface="Aptos" pitchFamily="34" charset="-120"/>
              </a:rPr>
              <a:t>The tree starts with previous loan defaults on file, making it a key predictor.</a:t>
            </a:r>
            <a:endParaRPr lang="en-US" sz="1050" dirty="0"/>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Model 2: Random Forest Classifier</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685800" y="1234440"/>
            <a:ext cx="6583680" cy="4892040"/>
          </a:xfrm>
          <a:prstGeom prst="roundRect">
            <a:avLst>
              <a:gd name="adj" fmla="val 2243"/>
            </a:avLst>
          </a:prstGeom>
          <a:solidFill>
            <a:srgbClr val="FFFFFF"/>
          </a:solidFill>
          <a:ln w="12700">
            <a:solidFill>
              <a:srgbClr val="CBD5E1">
                <a:alpha val="85000"/>
              </a:srgbClr>
            </a:solidFill>
            <a:prstDash val="solid"/>
          </a:ln>
        </p:spPr>
        <p:txBody>
          <a:bodyPr/>
          <a:lstStyle/>
          <a:p>
            <a:endParaRPr lang="en-US"/>
          </a:p>
        </p:txBody>
      </p:sp>
      <p:pic>
        <p:nvPicPr>
          <p:cNvPr id="6" name="Image 0" descr="/mnt/data/random_forest_feature_importance.png"/>
          <p:cNvPicPr>
            <a:picLocks noChangeAspect="1"/>
          </p:cNvPicPr>
          <p:nvPr/>
        </p:nvPicPr>
        <p:blipFill>
          <a:blip r:embed="rId3"/>
          <a:stretch>
            <a:fillRect/>
          </a:stretch>
        </p:blipFill>
        <p:spPr>
          <a:xfrm>
            <a:off x="920115" y="1234440"/>
            <a:ext cx="6115050" cy="4892040"/>
          </a:xfrm>
          <a:prstGeom prst="rect">
            <a:avLst/>
          </a:prstGeom>
        </p:spPr>
      </p:pic>
      <p:sp>
        <p:nvSpPr>
          <p:cNvPr id="7" name="Shape 4"/>
          <p:cNvSpPr/>
          <p:nvPr/>
        </p:nvSpPr>
        <p:spPr>
          <a:xfrm>
            <a:off x="7635240" y="1417320"/>
            <a:ext cx="2834640" cy="1143000"/>
          </a:xfrm>
          <a:prstGeom prst="roundRect">
            <a:avLst>
              <a:gd name="adj" fmla="val 12800"/>
            </a:avLst>
          </a:prstGeom>
          <a:solidFill>
            <a:srgbClr val="1E293B">
              <a:alpha val="95000"/>
            </a:srgbClr>
          </a:solidFill>
          <a:ln w="12700">
            <a:solidFill>
              <a:srgbClr val="334155">
                <a:alpha val="85000"/>
              </a:srgbClr>
            </a:solidFill>
            <a:prstDash val="solid"/>
          </a:ln>
        </p:spPr>
        <p:txBody>
          <a:bodyPr/>
          <a:lstStyle/>
          <a:p>
            <a:endParaRPr lang="en-US"/>
          </a:p>
        </p:txBody>
      </p:sp>
      <p:sp>
        <p:nvSpPr>
          <p:cNvPr id="8" name="Text 5"/>
          <p:cNvSpPr/>
          <p:nvPr/>
        </p:nvSpPr>
        <p:spPr>
          <a:xfrm>
            <a:off x="7726680" y="1581912"/>
            <a:ext cx="2651760" cy="347472"/>
          </a:xfrm>
          <a:prstGeom prst="rect">
            <a:avLst/>
          </a:prstGeom>
          <a:noFill/>
          <a:ln/>
        </p:spPr>
        <p:txBody>
          <a:bodyPr wrap="square" rtlCol="0" anchor="ctr"/>
          <a:lstStyle/>
          <a:p>
            <a:pPr marL="0" indent="0">
              <a:buNone/>
            </a:pPr>
            <a:r>
              <a:rPr lang="en-US" sz="2500" b="1" dirty="0">
                <a:solidFill>
                  <a:srgbClr val="22C55E"/>
                </a:solidFill>
                <a:latin typeface="Aptos Display" pitchFamily="34" charset="0"/>
                <a:ea typeface="Aptos Display" pitchFamily="34" charset="-122"/>
                <a:cs typeface="Aptos Display" pitchFamily="34" charset="-120"/>
              </a:rPr>
              <a:t>92.59%</a:t>
            </a:r>
            <a:endParaRPr lang="en-US" sz="2500" dirty="0"/>
          </a:p>
        </p:txBody>
      </p:sp>
      <p:sp>
        <p:nvSpPr>
          <p:cNvPr id="9" name="Text 6"/>
          <p:cNvSpPr/>
          <p:nvPr/>
        </p:nvSpPr>
        <p:spPr>
          <a:xfrm>
            <a:off x="7744968" y="2075688"/>
            <a:ext cx="261518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test accuracy</a:t>
            </a:r>
            <a:endParaRPr lang="en-US" sz="950" dirty="0"/>
          </a:p>
        </p:txBody>
      </p:sp>
      <p:sp>
        <p:nvSpPr>
          <p:cNvPr id="10" name="Shape 7"/>
          <p:cNvSpPr/>
          <p:nvPr/>
        </p:nvSpPr>
        <p:spPr>
          <a:xfrm>
            <a:off x="7635240" y="2788920"/>
            <a:ext cx="2834640" cy="1143000"/>
          </a:xfrm>
          <a:prstGeom prst="roundRect">
            <a:avLst>
              <a:gd name="adj" fmla="val 12800"/>
            </a:avLst>
          </a:prstGeom>
          <a:solidFill>
            <a:srgbClr val="1E293B">
              <a:alpha val="95000"/>
            </a:srgbClr>
          </a:solidFill>
          <a:ln w="12700">
            <a:solidFill>
              <a:srgbClr val="334155">
                <a:alpha val="85000"/>
              </a:srgbClr>
            </a:solidFill>
            <a:prstDash val="solid"/>
          </a:ln>
        </p:spPr>
        <p:txBody>
          <a:bodyPr/>
          <a:lstStyle/>
          <a:p>
            <a:endParaRPr lang="en-US"/>
          </a:p>
        </p:txBody>
      </p:sp>
      <p:sp>
        <p:nvSpPr>
          <p:cNvPr id="11" name="Text 8"/>
          <p:cNvSpPr/>
          <p:nvPr/>
        </p:nvSpPr>
        <p:spPr>
          <a:xfrm>
            <a:off x="7726680" y="2953512"/>
            <a:ext cx="2651760" cy="347472"/>
          </a:xfrm>
          <a:prstGeom prst="rect">
            <a:avLst/>
          </a:prstGeom>
          <a:noFill/>
          <a:ln/>
        </p:spPr>
        <p:txBody>
          <a:bodyPr wrap="square" rtlCol="0" anchor="ctr"/>
          <a:lstStyle/>
          <a:p>
            <a:pPr marL="0" indent="0">
              <a:buNone/>
            </a:pPr>
            <a:r>
              <a:rPr lang="en-US" sz="2500" b="1" dirty="0">
                <a:solidFill>
                  <a:srgbClr val="F59E0B"/>
                </a:solidFill>
                <a:latin typeface="Aptos Display" pitchFamily="34" charset="0"/>
                <a:ea typeface="Aptos Display" pitchFamily="34" charset="-122"/>
                <a:cs typeface="Aptos Display" pitchFamily="34" charset="-120"/>
              </a:rPr>
              <a:t>1.00</a:t>
            </a:r>
            <a:endParaRPr lang="en-US" sz="2500" dirty="0"/>
          </a:p>
        </p:txBody>
      </p:sp>
      <p:sp>
        <p:nvSpPr>
          <p:cNvPr id="12" name="Text 9"/>
          <p:cNvSpPr/>
          <p:nvPr/>
        </p:nvSpPr>
        <p:spPr>
          <a:xfrm>
            <a:off x="7744968" y="3447288"/>
            <a:ext cx="261518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training accuracy</a:t>
            </a:r>
            <a:endParaRPr lang="en-US" sz="950" dirty="0"/>
          </a:p>
        </p:txBody>
      </p:sp>
      <p:sp>
        <p:nvSpPr>
          <p:cNvPr id="13" name="Shape 10"/>
          <p:cNvSpPr/>
          <p:nvPr/>
        </p:nvSpPr>
        <p:spPr>
          <a:xfrm>
            <a:off x="7635240" y="4297680"/>
            <a:ext cx="3337560" cy="1143000"/>
          </a:xfrm>
          <a:prstGeom prst="roundRect">
            <a:avLst>
              <a:gd name="adj" fmla="val 12800"/>
            </a:avLst>
          </a:prstGeom>
          <a:solidFill>
            <a:srgbClr val="1E293B">
              <a:alpha val="94000"/>
            </a:srgbClr>
          </a:solidFill>
          <a:ln w="12700">
            <a:solidFill>
              <a:srgbClr val="334155">
                <a:alpha val="75000"/>
              </a:srgbClr>
            </a:solidFill>
            <a:prstDash val="solid"/>
          </a:ln>
        </p:spPr>
        <p:txBody>
          <a:bodyPr/>
          <a:lstStyle/>
          <a:p>
            <a:endParaRPr lang="en-US"/>
          </a:p>
        </p:txBody>
      </p:sp>
      <p:sp>
        <p:nvSpPr>
          <p:cNvPr id="14" name="Shape 11"/>
          <p:cNvSpPr/>
          <p:nvPr/>
        </p:nvSpPr>
        <p:spPr>
          <a:xfrm>
            <a:off x="7635240" y="4297680"/>
            <a:ext cx="54864" cy="1143000"/>
          </a:xfrm>
          <a:prstGeom prst="rect">
            <a:avLst/>
          </a:prstGeom>
          <a:solidFill>
            <a:srgbClr val="38BDF8"/>
          </a:solidFill>
          <a:ln w="12700">
            <a:solidFill>
              <a:srgbClr val="38BDF8"/>
            </a:solidFill>
            <a:prstDash val="solid"/>
          </a:ln>
        </p:spPr>
        <p:txBody>
          <a:bodyPr/>
          <a:lstStyle/>
          <a:p>
            <a:endParaRPr lang="en-US"/>
          </a:p>
        </p:txBody>
      </p:sp>
      <p:sp>
        <p:nvSpPr>
          <p:cNvPr id="15" name="Text 12"/>
          <p:cNvSpPr/>
          <p:nvPr/>
        </p:nvSpPr>
        <p:spPr>
          <a:xfrm>
            <a:off x="7836408" y="4462272"/>
            <a:ext cx="297180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Feature importance</a:t>
            </a:r>
            <a:endParaRPr lang="en-US" sz="1300" dirty="0"/>
          </a:p>
        </p:txBody>
      </p:sp>
      <p:sp>
        <p:nvSpPr>
          <p:cNvPr id="16" name="Text 13"/>
          <p:cNvSpPr/>
          <p:nvPr/>
        </p:nvSpPr>
        <p:spPr>
          <a:xfrm>
            <a:off x="7836408" y="4828032"/>
            <a:ext cx="2971800" cy="484632"/>
          </a:xfrm>
          <a:prstGeom prst="rect">
            <a:avLst/>
          </a:prstGeom>
          <a:noFill/>
          <a:ln/>
        </p:spPr>
        <p:txBody>
          <a:bodyPr wrap="square" rtlCol="0" anchor="t">
            <a:normAutofit fontScale="92500" lnSpcReduction="20000"/>
          </a:bodyPr>
          <a:lstStyle/>
          <a:p>
            <a:pPr marL="0" indent="0">
              <a:buNone/>
            </a:pPr>
            <a:r>
              <a:rPr lang="en-US" sz="1050" dirty="0">
                <a:solidFill>
                  <a:srgbClr val="CBD5E1"/>
                </a:solidFill>
                <a:latin typeface="Aptos" pitchFamily="34" charset="0"/>
                <a:ea typeface="Aptos" pitchFamily="34" charset="-122"/>
                <a:cs typeface="Aptos" pitchFamily="34" charset="-120"/>
              </a:rPr>
              <a:t>Previous loan defaults, loan percent income, interest rate, income, and loan amount were among the most important predictors.</a:t>
            </a:r>
            <a:endParaRPr lang="en-US" sz="1050" dirty="0"/>
          </a:p>
        </p:txBody>
      </p:sp>
      <p:sp>
        <p:nvSpPr>
          <p:cNvPr id="17" name="Text 14"/>
          <p:cNvSpPr/>
          <p:nvPr/>
        </p:nvSpPr>
        <p:spPr>
          <a:xfrm>
            <a:off x="914400" y="6355080"/>
            <a:ext cx="10424160" cy="182880"/>
          </a:xfrm>
          <a:prstGeom prst="rect">
            <a:avLst/>
          </a:prstGeom>
          <a:noFill/>
          <a:ln/>
        </p:spPr>
        <p:txBody>
          <a:bodyPr wrap="square" rtlCol="0" anchor="ctr"/>
          <a:lstStyle/>
          <a:p>
            <a:pPr marL="0" indent="0" algn="ctr">
              <a:buNone/>
            </a:pPr>
            <a:r>
              <a:rPr lang="en-US" sz="1000" dirty="0">
                <a:solidFill>
                  <a:srgbClr val="94A3B8"/>
                </a:solidFill>
              </a:rPr>
              <a:t>The perfect training score suggests that we should mention possible overfitting, even though test accuracy is strong.</a:t>
            </a:r>
            <a:endParaRPr lang="en-US" sz="1000" dirty="0"/>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Results Comparison</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822960" y="1417320"/>
            <a:ext cx="2926080" cy="1234440"/>
          </a:xfrm>
          <a:prstGeom prst="roundRect">
            <a:avLst>
              <a:gd name="adj" fmla="val 11852"/>
            </a:avLst>
          </a:prstGeom>
          <a:solidFill>
            <a:srgbClr val="1E293B">
              <a:alpha val="95000"/>
            </a:srgbClr>
          </a:solidFill>
          <a:ln w="12700">
            <a:solidFill>
              <a:srgbClr val="334155">
                <a:alpha val="85000"/>
              </a:srgbClr>
            </a:solidFill>
            <a:prstDash val="solid"/>
          </a:ln>
        </p:spPr>
        <p:txBody>
          <a:bodyPr/>
          <a:lstStyle/>
          <a:p>
            <a:endParaRPr lang="en-US"/>
          </a:p>
        </p:txBody>
      </p:sp>
      <p:sp>
        <p:nvSpPr>
          <p:cNvPr id="6" name="Text 4"/>
          <p:cNvSpPr/>
          <p:nvPr/>
        </p:nvSpPr>
        <p:spPr>
          <a:xfrm>
            <a:off x="914400" y="1581912"/>
            <a:ext cx="2743200" cy="347472"/>
          </a:xfrm>
          <a:prstGeom prst="rect">
            <a:avLst/>
          </a:prstGeom>
          <a:noFill/>
          <a:ln/>
        </p:spPr>
        <p:txBody>
          <a:bodyPr wrap="square" rtlCol="0" anchor="ctr"/>
          <a:lstStyle/>
          <a:p>
            <a:pPr marL="0" indent="0">
              <a:buNone/>
            </a:pPr>
            <a:r>
              <a:rPr lang="en-US" sz="2500" b="1" dirty="0">
                <a:solidFill>
                  <a:srgbClr val="38BDF8"/>
                </a:solidFill>
                <a:latin typeface="Aptos Display" pitchFamily="34" charset="0"/>
                <a:ea typeface="Aptos Display" pitchFamily="34" charset="-122"/>
                <a:cs typeface="Aptos Display" pitchFamily="34" charset="-120"/>
              </a:rPr>
              <a:t>90.77%</a:t>
            </a:r>
            <a:endParaRPr lang="en-US" sz="2500" dirty="0"/>
          </a:p>
        </p:txBody>
      </p:sp>
      <p:sp>
        <p:nvSpPr>
          <p:cNvPr id="7" name="Text 5"/>
          <p:cNvSpPr/>
          <p:nvPr/>
        </p:nvSpPr>
        <p:spPr>
          <a:xfrm>
            <a:off x="932688" y="2075688"/>
            <a:ext cx="270662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Decision Tree accuracy</a:t>
            </a:r>
            <a:endParaRPr lang="en-US" sz="950" dirty="0"/>
          </a:p>
        </p:txBody>
      </p:sp>
      <p:sp>
        <p:nvSpPr>
          <p:cNvPr id="8" name="Shape 6"/>
          <p:cNvSpPr/>
          <p:nvPr/>
        </p:nvSpPr>
        <p:spPr>
          <a:xfrm>
            <a:off x="3977640" y="1417320"/>
            <a:ext cx="2926080" cy="1234440"/>
          </a:xfrm>
          <a:prstGeom prst="roundRect">
            <a:avLst>
              <a:gd name="adj" fmla="val 11852"/>
            </a:avLst>
          </a:prstGeom>
          <a:solidFill>
            <a:srgbClr val="1E293B">
              <a:alpha val="95000"/>
            </a:srgbClr>
          </a:solidFill>
          <a:ln w="12700">
            <a:solidFill>
              <a:srgbClr val="334155">
                <a:alpha val="85000"/>
              </a:srgbClr>
            </a:solidFill>
            <a:prstDash val="solid"/>
          </a:ln>
        </p:spPr>
        <p:txBody>
          <a:bodyPr/>
          <a:lstStyle/>
          <a:p>
            <a:endParaRPr lang="en-US"/>
          </a:p>
        </p:txBody>
      </p:sp>
      <p:sp>
        <p:nvSpPr>
          <p:cNvPr id="9" name="Text 7"/>
          <p:cNvSpPr/>
          <p:nvPr/>
        </p:nvSpPr>
        <p:spPr>
          <a:xfrm>
            <a:off x="4069080" y="1581912"/>
            <a:ext cx="2743200" cy="347472"/>
          </a:xfrm>
          <a:prstGeom prst="rect">
            <a:avLst/>
          </a:prstGeom>
          <a:noFill/>
          <a:ln/>
        </p:spPr>
        <p:txBody>
          <a:bodyPr wrap="square" rtlCol="0" anchor="ctr"/>
          <a:lstStyle/>
          <a:p>
            <a:pPr marL="0" indent="0">
              <a:buNone/>
            </a:pPr>
            <a:r>
              <a:rPr lang="en-US" sz="2500" b="1" dirty="0">
                <a:solidFill>
                  <a:srgbClr val="22C55E"/>
                </a:solidFill>
                <a:latin typeface="Aptos Display" pitchFamily="34" charset="0"/>
                <a:ea typeface="Aptos Display" pitchFamily="34" charset="-122"/>
                <a:cs typeface="Aptos Display" pitchFamily="34" charset="-120"/>
              </a:rPr>
              <a:t>92.59%</a:t>
            </a:r>
            <a:endParaRPr lang="en-US" sz="2500" dirty="0"/>
          </a:p>
        </p:txBody>
      </p:sp>
      <p:sp>
        <p:nvSpPr>
          <p:cNvPr id="10" name="Text 8"/>
          <p:cNvSpPr/>
          <p:nvPr/>
        </p:nvSpPr>
        <p:spPr>
          <a:xfrm>
            <a:off x="4087368" y="2075688"/>
            <a:ext cx="270662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Random Forest accuracy</a:t>
            </a:r>
            <a:endParaRPr lang="en-US" sz="950" dirty="0"/>
          </a:p>
        </p:txBody>
      </p:sp>
      <p:sp>
        <p:nvSpPr>
          <p:cNvPr id="11" name="Shape 9"/>
          <p:cNvSpPr/>
          <p:nvPr/>
        </p:nvSpPr>
        <p:spPr>
          <a:xfrm>
            <a:off x="7132320" y="1417320"/>
            <a:ext cx="2926080" cy="1234440"/>
          </a:xfrm>
          <a:prstGeom prst="roundRect">
            <a:avLst>
              <a:gd name="adj" fmla="val 11852"/>
            </a:avLst>
          </a:prstGeom>
          <a:solidFill>
            <a:srgbClr val="1E293B">
              <a:alpha val="95000"/>
            </a:srgbClr>
          </a:solidFill>
          <a:ln w="12700">
            <a:solidFill>
              <a:srgbClr val="334155">
                <a:alpha val="85000"/>
              </a:srgbClr>
            </a:solidFill>
            <a:prstDash val="solid"/>
          </a:ln>
        </p:spPr>
        <p:txBody>
          <a:bodyPr/>
          <a:lstStyle/>
          <a:p>
            <a:endParaRPr lang="en-US"/>
          </a:p>
        </p:txBody>
      </p:sp>
      <p:sp>
        <p:nvSpPr>
          <p:cNvPr id="12" name="Text 10"/>
          <p:cNvSpPr/>
          <p:nvPr/>
        </p:nvSpPr>
        <p:spPr>
          <a:xfrm>
            <a:off x="7223760" y="1581912"/>
            <a:ext cx="2743200" cy="347472"/>
          </a:xfrm>
          <a:prstGeom prst="rect">
            <a:avLst/>
          </a:prstGeom>
          <a:noFill/>
          <a:ln/>
        </p:spPr>
        <p:txBody>
          <a:bodyPr wrap="square" rtlCol="0" anchor="ctr"/>
          <a:lstStyle/>
          <a:p>
            <a:pPr marL="0" indent="0">
              <a:buNone/>
            </a:pPr>
            <a:r>
              <a:rPr lang="en-US" sz="2500" b="1" dirty="0">
                <a:solidFill>
                  <a:srgbClr val="F59E0B"/>
                </a:solidFill>
                <a:latin typeface="Aptos Display" pitchFamily="34" charset="0"/>
                <a:ea typeface="Aptos Display" pitchFamily="34" charset="-122"/>
                <a:cs typeface="Aptos Display" pitchFamily="34" charset="-120"/>
              </a:rPr>
              <a:t>+1.82 pp</a:t>
            </a:r>
            <a:endParaRPr lang="en-US" sz="2500" dirty="0"/>
          </a:p>
        </p:txBody>
      </p:sp>
      <p:sp>
        <p:nvSpPr>
          <p:cNvPr id="13" name="Text 11"/>
          <p:cNvSpPr/>
          <p:nvPr/>
        </p:nvSpPr>
        <p:spPr>
          <a:xfrm>
            <a:off x="7242048" y="2075688"/>
            <a:ext cx="2706624" cy="411480"/>
          </a:xfrm>
          <a:prstGeom prst="rect">
            <a:avLst/>
          </a:prstGeom>
          <a:noFill/>
          <a:ln/>
        </p:spPr>
        <p:txBody>
          <a:bodyPr wrap="square" rtlCol="0" anchor="ctr">
            <a:normAutofit/>
          </a:bodyPr>
          <a:lstStyle/>
          <a:p>
            <a:pPr marL="0" indent="0">
              <a:buNone/>
            </a:pPr>
            <a:r>
              <a:rPr lang="en-US" sz="950" dirty="0">
                <a:solidFill>
                  <a:srgbClr val="CBD5E1"/>
                </a:solidFill>
                <a:latin typeface="Aptos" pitchFamily="34" charset="0"/>
                <a:ea typeface="Aptos" pitchFamily="34" charset="-122"/>
                <a:cs typeface="Aptos" pitchFamily="34" charset="-120"/>
              </a:rPr>
              <a:t>Random Forest improvement</a:t>
            </a:r>
            <a:endParaRPr lang="en-US" sz="950" dirty="0"/>
          </a:p>
        </p:txBody>
      </p:sp>
      <p:sp>
        <p:nvSpPr>
          <p:cNvPr id="14" name="Text 12"/>
          <p:cNvSpPr/>
          <p:nvPr/>
        </p:nvSpPr>
        <p:spPr>
          <a:xfrm>
            <a:off x="1097280" y="3063240"/>
            <a:ext cx="3291840" cy="228600"/>
          </a:xfrm>
          <a:prstGeom prst="rect">
            <a:avLst/>
          </a:prstGeom>
          <a:noFill/>
          <a:ln/>
        </p:spPr>
        <p:txBody>
          <a:bodyPr wrap="square" rtlCol="0" anchor="ctr"/>
          <a:lstStyle/>
          <a:p>
            <a:pPr marL="0" indent="0">
              <a:buNone/>
            </a:pPr>
            <a:r>
              <a:rPr lang="en-US" sz="1300" b="1" dirty="0">
                <a:solidFill>
                  <a:srgbClr val="F8FAFC"/>
                </a:solidFill>
              </a:rPr>
              <a:t>Decision Tree test matrix</a:t>
            </a:r>
            <a:endParaRPr lang="en-US" sz="1300" dirty="0"/>
          </a:p>
        </p:txBody>
      </p:sp>
      <p:sp>
        <p:nvSpPr>
          <p:cNvPr id="15" name="Shape 13"/>
          <p:cNvSpPr/>
          <p:nvPr/>
        </p:nvSpPr>
        <p:spPr>
          <a:xfrm>
            <a:off x="1097280" y="3456432"/>
            <a:ext cx="3108960" cy="960120"/>
          </a:xfrm>
          <a:prstGeom prst="roundRect">
            <a:avLst>
              <a:gd name="adj" fmla="val 11429"/>
            </a:avLst>
          </a:prstGeom>
          <a:solidFill>
            <a:srgbClr val="020617"/>
          </a:solidFill>
          <a:ln w="12700">
            <a:solidFill>
              <a:srgbClr val="334155"/>
            </a:solidFill>
            <a:prstDash val="solid"/>
          </a:ln>
        </p:spPr>
        <p:txBody>
          <a:bodyPr/>
          <a:lstStyle/>
          <a:p>
            <a:endParaRPr lang="en-US"/>
          </a:p>
        </p:txBody>
      </p:sp>
      <p:sp>
        <p:nvSpPr>
          <p:cNvPr id="16" name="Text 14"/>
          <p:cNvSpPr/>
          <p:nvPr/>
        </p:nvSpPr>
        <p:spPr>
          <a:xfrm>
            <a:off x="1280160" y="3621024"/>
            <a:ext cx="2743200" cy="630936"/>
          </a:xfrm>
          <a:prstGeom prst="rect">
            <a:avLst/>
          </a:prstGeom>
          <a:noFill/>
          <a:ln/>
        </p:spPr>
        <p:txBody>
          <a:bodyPr wrap="square" rtlCol="0" anchor="ctr">
            <a:normAutofit/>
          </a:bodyPr>
          <a:lstStyle/>
          <a:p>
            <a:pPr marL="0" indent="0">
              <a:buNone/>
            </a:pPr>
            <a:r>
              <a:rPr lang="en-US" sz="930" dirty="0">
                <a:solidFill>
                  <a:srgbClr val="E2E8F0"/>
                </a:solidFill>
                <a:latin typeface="Cascadia Mono" pitchFamily="34" charset="0"/>
                <a:ea typeface="Cascadia Mono" pitchFamily="34" charset="-122"/>
                <a:cs typeface="Cascadia Mono" pitchFamily="34" charset="-120"/>
              </a:rPr>
              <a:t>[[8464, 286],</a:t>
            </a:r>
            <a:endParaRPr lang="en-US" sz="930" dirty="0"/>
          </a:p>
          <a:p>
            <a:pPr marL="0" indent="0">
              <a:buNone/>
            </a:pPr>
            <a:r>
              <a:rPr lang="en-US" sz="930" dirty="0">
                <a:solidFill>
                  <a:srgbClr val="E2E8F0"/>
                </a:solidFill>
                <a:latin typeface="Cascadia Mono" pitchFamily="34" charset="0"/>
                <a:ea typeface="Cascadia Mono" pitchFamily="34" charset="-122"/>
                <a:cs typeface="Cascadia Mono" pitchFamily="34" charset="-120"/>
              </a:rPr>
              <a:t> [ 752,1748]]</a:t>
            </a:r>
            <a:endParaRPr lang="en-US" sz="930" dirty="0"/>
          </a:p>
        </p:txBody>
      </p:sp>
      <p:sp>
        <p:nvSpPr>
          <p:cNvPr id="17" name="Text 15"/>
          <p:cNvSpPr/>
          <p:nvPr/>
        </p:nvSpPr>
        <p:spPr>
          <a:xfrm>
            <a:off x="4617720" y="3063240"/>
            <a:ext cx="3291840" cy="228600"/>
          </a:xfrm>
          <a:prstGeom prst="rect">
            <a:avLst/>
          </a:prstGeom>
          <a:noFill/>
          <a:ln/>
        </p:spPr>
        <p:txBody>
          <a:bodyPr wrap="square" rtlCol="0" anchor="ctr"/>
          <a:lstStyle/>
          <a:p>
            <a:pPr marL="0" indent="0">
              <a:buNone/>
            </a:pPr>
            <a:r>
              <a:rPr lang="en-US" sz="1300" b="1" dirty="0">
                <a:solidFill>
                  <a:srgbClr val="F8FAFC"/>
                </a:solidFill>
              </a:rPr>
              <a:t>Random Forest test matrix</a:t>
            </a:r>
            <a:endParaRPr lang="en-US" sz="1300" dirty="0"/>
          </a:p>
        </p:txBody>
      </p:sp>
      <p:sp>
        <p:nvSpPr>
          <p:cNvPr id="18" name="Shape 16"/>
          <p:cNvSpPr/>
          <p:nvPr/>
        </p:nvSpPr>
        <p:spPr>
          <a:xfrm>
            <a:off x="4617720" y="3456432"/>
            <a:ext cx="3108960" cy="960120"/>
          </a:xfrm>
          <a:prstGeom prst="roundRect">
            <a:avLst>
              <a:gd name="adj" fmla="val 11429"/>
            </a:avLst>
          </a:prstGeom>
          <a:solidFill>
            <a:srgbClr val="020617"/>
          </a:solidFill>
          <a:ln w="12700">
            <a:solidFill>
              <a:srgbClr val="334155"/>
            </a:solidFill>
            <a:prstDash val="solid"/>
          </a:ln>
        </p:spPr>
        <p:txBody>
          <a:bodyPr/>
          <a:lstStyle/>
          <a:p>
            <a:endParaRPr lang="en-US"/>
          </a:p>
        </p:txBody>
      </p:sp>
      <p:sp>
        <p:nvSpPr>
          <p:cNvPr id="19" name="Text 17"/>
          <p:cNvSpPr/>
          <p:nvPr/>
        </p:nvSpPr>
        <p:spPr>
          <a:xfrm>
            <a:off x="4800600" y="3621024"/>
            <a:ext cx="2743200" cy="630936"/>
          </a:xfrm>
          <a:prstGeom prst="rect">
            <a:avLst/>
          </a:prstGeom>
          <a:noFill/>
          <a:ln/>
        </p:spPr>
        <p:txBody>
          <a:bodyPr wrap="square" rtlCol="0" anchor="ctr">
            <a:normAutofit/>
          </a:bodyPr>
          <a:lstStyle/>
          <a:p>
            <a:pPr marL="0" indent="0">
              <a:buNone/>
            </a:pPr>
            <a:r>
              <a:rPr lang="en-US" sz="930" dirty="0">
                <a:solidFill>
                  <a:srgbClr val="E2E8F0"/>
                </a:solidFill>
                <a:latin typeface="Cascadia Mono" pitchFamily="34" charset="0"/>
                <a:ea typeface="Cascadia Mono" pitchFamily="34" charset="-122"/>
                <a:cs typeface="Cascadia Mono" pitchFamily="34" charset="-120"/>
              </a:rPr>
              <a:t>[[8519, 230],</a:t>
            </a:r>
            <a:endParaRPr lang="en-US" sz="930" dirty="0"/>
          </a:p>
          <a:p>
            <a:pPr marL="0" indent="0">
              <a:buNone/>
            </a:pPr>
            <a:r>
              <a:rPr lang="en-US" sz="930" dirty="0">
                <a:solidFill>
                  <a:srgbClr val="E2E8F0"/>
                </a:solidFill>
                <a:latin typeface="Cascadia Mono" pitchFamily="34" charset="0"/>
                <a:ea typeface="Cascadia Mono" pitchFamily="34" charset="-122"/>
                <a:cs typeface="Cascadia Mono" pitchFamily="34" charset="-120"/>
              </a:rPr>
              <a:t> [ 604,1896]]</a:t>
            </a:r>
            <a:endParaRPr lang="en-US" sz="930" dirty="0"/>
          </a:p>
        </p:txBody>
      </p:sp>
      <p:sp>
        <p:nvSpPr>
          <p:cNvPr id="20" name="Shape 18"/>
          <p:cNvSpPr/>
          <p:nvPr/>
        </p:nvSpPr>
        <p:spPr>
          <a:xfrm>
            <a:off x="8138160" y="3154680"/>
            <a:ext cx="3017520" cy="1508760"/>
          </a:xfrm>
          <a:prstGeom prst="roundRect">
            <a:avLst>
              <a:gd name="adj" fmla="val 9697"/>
            </a:avLst>
          </a:prstGeom>
          <a:solidFill>
            <a:srgbClr val="1E293B">
              <a:alpha val="94000"/>
            </a:srgbClr>
          </a:solidFill>
          <a:ln w="12700">
            <a:solidFill>
              <a:srgbClr val="334155">
                <a:alpha val="75000"/>
              </a:srgbClr>
            </a:solidFill>
            <a:prstDash val="solid"/>
          </a:ln>
        </p:spPr>
        <p:txBody>
          <a:bodyPr/>
          <a:lstStyle/>
          <a:p>
            <a:endParaRPr lang="en-US"/>
          </a:p>
        </p:txBody>
      </p:sp>
      <p:sp>
        <p:nvSpPr>
          <p:cNvPr id="21" name="Shape 19"/>
          <p:cNvSpPr/>
          <p:nvPr/>
        </p:nvSpPr>
        <p:spPr>
          <a:xfrm>
            <a:off x="8138160" y="3154680"/>
            <a:ext cx="54864" cy="1508760"/>
          </a:xfrm>
          <a:prstGeom prst="rect">
            <a:avLst/>
          </a:prstGeom>
          <a:solidFill>
            <a:srgbClr val="22C55E"/>
          </a:solidFill>
          <a:ln w="12700">
            <a:solidFill>
              <a:srgbClr val="22C55E"/>
            </a:solidFill>
            <a:prstDash val="solid"/>
          </a:ln>
        </p:spPr>
        <p:txBody>
          <a:bodyPr/>
          <a:lstStyle/>
          <a:p>
            <a:endParaRPr lang="en-US"/>
          </a:p>
        </p:txBody>
      </p:sp>
      <p:sp>
        <p:nvSpPr>
          <p:cNvPr id="22" name="Text 20"/>
          <p:cNvSpPr/>
          <p:nvPr/>
        </p:nvSpPr>
        <p:spPr>
          <a:xfrm>
            <a:off x="8339328" y="3319272"/>
            <a:ext cx="265176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Final interpretation</a:t>
            </a:r>
            <a:endParaRPr lang="en-US" sz="1300" dirty="0"/>
          </a:p>
        </p:txBody>
      </p:sp>
      <p:sp>
        <p:nvSpPr>
          <p:cNvPr id="23" name="Text 21"/>
          <p:cNvSpPr/>
          <p:nvPr/>
        </p:nvSpPr>
        <p:spPr>
          <a:xfrm>
            <a:off x="8339328" y="3685032"/>
            <a:ext cx="2651760" cy="85039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Random Forest performed better on the test set, while Decision Tree remained useful for explaining the classification logic.</a:t>
            </a:r>
            <a:endParaRPr lang="en-US" sz="1050" dirty="0"/>
          </a:p>
        </p:txBody>
      </p:sp>
      <p:sp>
        <p:nvSpPr>
          <p:cNvPr id="24" name="Text 22"/>
          <p:cNvSpPr/>
          <p:nvPr/>
        </p:nvSpPr>
        <p:spPr>
          <a:xfrm>
            <a:off x="1005840" y="5486400"/>
            <a:ext cx="10241280" cy="384048"/>
          </a:xfrm>
          <a:prstGeom prst="rect">
            <a:avLst/>
          </a:prstGeom>
          <a:noFill/>
          <a:ln/>
        </p:spPr>
        <p:txBody>
          <a:bodyPr wrap="square" rtlCol="0" anchor="ctr"/>
          <a:lstStyle/>
          <a:p>
            <a:pPr marL="0" indent="0" algn="ctr">
              <a:buNone/>
            </a:pPr>
            <a:r>
              <a:rPr lang="en-US" sz="1500" b="1" dirty="0">
                <a:solidFill>
                  <a:srgbClr val="F8FAFC"/>
                </a:solidFill>
              </a:rPr>
              <a:t>Result: Random Forest had the best test accuracy, but reproducibility and documentation remain the main course focus.</a:t>
            </a:r>
            <a:endParaRPr lang="en-US" sz="1500" dirty="0"/>
          </a:p>
        </p:txBody>
      </p:sp>
      <p:sp>
        <p:nvSpPr>
          <p:cNvPr id="25"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228600"/>
            <a:ext cx="5486400" cy="201168"/>
          </a:xfrm>
          <a:prstGeom prst="rect">
            <a:avLst/>
          </a:prstGeom>
          <a:noFill/>
          <a:ln/>
        </p:spPr>
        <p:txBody>
          <a:bodyPr wrap="square" rtlCol="0" anchor="ctr"/>
          <a:lstStyle/>
          <a:p>
            <a:pPr marL="0" indent="0">
              <a:buNone/>
            </a:pPr>
            <a:r>
              <a:rPr lang="en-US" sz="850" b="1" dirty="0">
                <a:solidFill>
                  <a:srgbClr val="94A3B8"/>
                </a:solidFill>
                <a:latin typeface="Aptos" pitchFamily="34" charset="0"/>
                <a:ea typeface="Aptos" pitchFamily="34" charset="-122"/>
                <a:cs typeface="Aptos" pitchFamily="34" charset="-120"/>
              </a:rPr>
              <a:t>RR Group Project</a:t>
            </a:r>
            <a:endParaRPr lang="en-US" sz="850" dirty="0"/>
          </a:p>
        </p:txBody>
      </p:sp>
      <p:sp>
        <p:nvSpPr>
          <p:cNvPr id="3" name="Text 1"/>
          <p:cNvSpPr/>
          <p:nvPr/>
        </p:nvSpPr>
        <p:spPr>
          <a:xfrm>
            <a:off x="594360" y="502920"/>
            <a:ext cx="11064240" cy="502920"/>
          </a:xfrm>
          <a:prstGeom prst="rect">
            <a:avLst/>
          </a:prstGeom>
          <a:noFill/>
          <a:ln/>
        </p:spPr>
        <p:txBody>
          <a:bodyPr wrap="square"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Challenges, Lessons, and Final Conclusion</a:t>
            </a:r>
            <a:endParaRPr lang="en-US" sz="2400" dirty="0"/>
          </a:p>
        </p:txBody>
      </p:sp>
      <p:sp>
        <p:nvSpPr>
          <p:cNvPr id="4" name="Shape 2"/>
          <p:cNvSpPr/>
          <p:nvPr/>
        </p:nvSpPr>
        <p:spPr>
          <a:xfrm>
            <a:off x="594360" y="1124712"/>
            <a:ext cx="1051560" cy="0"/>
          </a:xfrm>
          <a:prstGeom prst="line">
            <a:avLst/>
          </a:prstGeom>
          <a:noFill/>
          <a:ln w="38100">
            <a:solidFill>
              <a:srgbClr val="38BDF8"/>
            </a:solidFill>
            <a:prstDash val="solid"/>
          </a:ln>
        </p:spPr>
        <p:txBody>
          <a:bodyPr/>
          <a:lstStyle/>
          <a:p>
            <a:endParaRPr lang="en-US"/>
          </a:p>
        </p:txBody>
      </p:sp>
      <p:sp>
        <p:nvSpPr>
          <p:cNvPr id="5" name="Shape 3"/>
          <p:cNvSpPr/>
          <p:nvPr/>
        </p:nvSpPr>
        <p:spPr>
          <a:xfrm>
            <a:off x="731520" y="1325880"/>
            <a:ext cx="3429000" cy="1325880"/>
          </a:xfrm>
          <a:prstGeom prst="roundRect">
            <a:avLst>
              <a:gd name="adj" fmla="val 11034"/>
            </a:avLst>
          </a:prstGeom>
          <a:solidFill>
            <a:srgbClr val="1E293B">
              <a:alpha val="94000"/>
            </a:srgbClr>
          </a:solidFill>
          <a:ln w="12700">
            <a:solidFill>
              <a:srgbClr val="334155">
                <a:alpha val="75000"/>
              </a:srgbClr>
            </a:solidFill>
            <a:prstDash val="solid"/>
          </a:ln>
        </p:spPr>
        <p:txBody>
          <a:bodyPr/>
          <a:lstStyle/>
          <a:p>
            <a:endParaRPr lang="en-US"/>
          </a:p>
        </p:txBody>
      </p:sp>
      <p:sp>
        <p:nvSpPr>
          <p:cNvPr id="6" name="Shape 4"/>
          <p:cNvSpPr/>
          <p:nvPr/>
        </p:nvSpPr>
        <p:spPr>
          <a:xfrm>
            <a:off x="731520" y="1325880"/>
            <a:ext cx="54864" cy="1325880"/>
          </a:xfrm>
          <a:prstGeom prst="rect">
            <a:avLst/>
          </a:prstGeom>
          <a:solidFill>
            <a:srgbClr val="38BDF8"/>
          </a:solidFill>
          <a:ln w="12700">
            <a:solidFill>
              <a:srgbClr val="38BDF8"/>
            </a:solidFill>
            <a:prstDash val="solid"/>
          </a:ln>
        </p:spPr>
        <p:txBody>
          <a:bodyPr/>
          <a:lstStyle/>
          <a:p>
            <a:endParaRPr lang="en-US"/>
          </a:p>
        </p:txBody>
      </p:sp>
      <p:sp>
        <p:nvSpPr>
          <p:cNvPr id="7" name="Text 5"/>
          <p:cNvSpPr/>
          <p:nvPr/>
        </p:nvSpPr>
        <p:spPr>
          <a:xfrm>
            <a:off x="932688" y="1490472"/>
            <a:ext cx="306324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Translation challenges</a:t>
            </a:r>
            <a:endParaRPr lang="en-US" sz="1300" dirty="0"/>
          </a:p>
        </p:txBody>
      </p:sp>
      <p:sp>
        <p:nvSpPr>
          <p:cNvPr id="8" name="Text 6"/>
          <p:cNvSpPr/>
          <p:nvPr/>
        </p:nvSpPr>
        <p:spPr>
          <a:xfrm>
            <a:off x="932688" y="1856232"/>
            <a:ext cx="3063240" cy="66751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R plots and Python plots do not always have direct equivalents. We had to adjust formatting and plotting functions.</a:t>
            </a:r>
            <a:endParaRPr lang="en-US" sz="1050" dirty="0"/>
          </a:p>
        </p:txBody>
      </p:sp>
      <p:sp>
        <p:nvSpPr>
          <p:cNvPr id="9" name="Shape 7"/>
          <p:cNvSpPr/>
          <p:nvPr/>
        </p:nvSpPr>
        <p:spPr>
          <a:xfrm>
            <a:off x="4389120" y="1325880"/>
            <a:ext cx="3429000" cy="1325880"/>
          </a:xfrm>
          <a:prstGeom prst="roundRect">
            <a:avLst>
              <a:gd name="adj" fmla="val 11034"/>
            </a:avLst>
          </a:prstGeom>
          <a:solidFill>
            <a:srgbClr val="1E293B">
              <a:alpha val="94000"/>
            </a:srgbClr>
          </a:solidFill>
          <a:ln w="12700">
            <a:solidFill>
              <a:srgbClr val="334155">
                <a:alpha val="75000"/>
              </a:srgbClr>
            </a:solidFill>
            <a:prstDash val="solid"/>
          </a:ln>
        </p:spPr>
        <p:txBody>
          <a:bodyPr/>
          <a:lstStyle/>
          <a:p>
            <a:endParaRPr lang="en-US"/>
          </a:p>
        </p:txBody>
      </p:sp>
      <p:sp>
        <p:nvSpPr>
          <p:cNvPr id="10" name="Shape 8"/>
          <p:cNvSpPr/>
          <p:nvPr/>
        </p:nvSpPr>
        <p:spPr>
          <a:xfrm>
            <a:off x="4389120" y="1325880"/>
            <a:ext cx="54864" cy="1325880"/>
          </a:xfrm>
          <a:prstGeom prst="rect">
            <a:avLst/>
          </a:prstGeom>
          <a:solidFill>
            <a:srgbClr val="22C55E"/>
          </a:solidFill>
          <a:ln w="12700">
            <a:solidFill>
              <a:srgbClr val="22C55E"/>
            </a:solidFill>
            <a:prstDash val="solid"/>
          </a:ln>
        </p:spPr>
        <p:txBody>
          <a:bodyPr/>
          <a:lstStyle/>
          <a:p>
            <a:endParaRPr lang="en-US"/>
          </a:p>
        </p:txBody>
      </p:sp>
      <p:sp>
        <p:nvSpPr>
          <p:cNvPr id="11" name="Text 9"/>
          <p:cNvSpPr/>
          <p:nvPr/>
        </p:nvSpPr>
        <p:spPr>
          <a:xfrm>
            <a:off x="4590288" y="1490472"/>
            <a:ext cx="3063240" cy="256032"/>
          </a:xfrm>
          <a:prstGeom prst="rect">
            <a:avLst/>
          </a:prstGeom>
          <a:noFill/>
          <a:ln/>
        </p:spPr>
        <p:txBody>
          <a:bodyPr wrap="square" rtlCol="0" anchor="ctr"/>
          <a:lstStyle/>
          <a:p>
            <a:pPr marL="0" indent="0">
              <a:buNone/>
            </a:pPr>
            <a:r>
              <a:rPr lang="en-US" sz="1300" b="1" dirty="0">
                <a:solidFill>
                  <a:srgbClr val="F8FAFC"/>
                </a:solidFill>
                <a:latin typeface="Aptos Display" pitchFamily="34" charset="0"/>
                <a:ea typeface="Aptos Display" pitchFamily="34" charset="-122"/>
                <a:cs typeface="Aptos Display" pitchFamily="34" charset="-120"/>
              </a:rPr>
              <a:t>Reproducibility challenges</a:t>
            </a:r>
            <a:endParaRPr lang="en-US" sz="1300" dirty="0"/>
          </a:p>
        </p:txBody>
      </p:sp>
      <p:sp>
        <p:nvSpPr>
          <p:cNvPr id="12" name="Text 10"/>
          <p:cNvSpPr/>
          <p:nvPr/>
        </p:nvSpPr>
        <p:spPr>
          <a:xfrm>
            <a:off x="4590288" y="1856232"/>
            <a:ext cx="3063240" cy="667512"/>
          </a:xfrm>
          <a:prstGeom prst="rect">
            <a:avLst/>
          </a:prstGeom>
          <a:noFill/>
          <a:ln/>
        </p:spPr>
        <p:txBody>
          <a:bodyPr wrap="square" rtlCol="0" anchor="t">
            <a:normAutofit/>
          </a:bodyPr>
          <a:lstStyle/>
          <a:p>
            <a:pPr marL="0" indent="0">
              <a:buNone/>
            </a:pPr>
            <a:r>
              <a:rPr lang="en-US" sz="1050" dirty="0">
                <a:solidFill>
                  <a:srgbClr val="CBD5E1"/>
                </a:solidFill>
                <a:latin typeface="Aptos" pitchFamily="34" charset="0"/>
                <a:ea typeface="Aptos" pitchFamily="34" charset="-122"/>
                <a:cs typeface="Aptos" pitchFamily="34" charset="-120"/>
              </a:rPr>
              <a:t>The original project did not fully separate cleaning, visualization, and modeling, so we reorganized the workflow.</a:t>
            </a:r>
            <a:endParaRPr lang="en-US" sz="1050" dirty="0"/>
          </a:p>
        </p:txBody>
      </p:sp>
      <p:sp>
        <p:nvSpPr>
          <p:cNvPr id="13" name="Shape 11"/>
          <p:cNvSpPr/>
          <p:nvPr/>
        </p:nvSpPr>
        <p:spPr>
          <a:xfrm>
            <a:off x="8046720" y="1325880"/>
            <a:ext cx="3429000" cy="1325880"/>
          </a:xfrm>
          <a:prstGeom prst="roundRect">
            <a:avLst>
              <a:gd name="adj" fmla="val 11034"/>
            </a:avLst>
          </a:prstGeom>
          <a:solidFill>
            <a:srgbClr val="1E293B">
              <a:alpha val="94000"/>
            </a:srgbClr>
          </a:solidFill>
          <a:ln w="12700">
            <a:solidFill>
              <a:srgbClr val="334155">
                <a:alpha val="75000"/>
              </a:srgbClr>
            </a:solidFill>
            <a:prstDash val="solid"/>
          </a:ln>
        </p:spPr>
        <p:txBody>
          <a:bodyPr/>
          <a:lstStyle/>
          <a:p>
            <a:endParaRPr lang="en-US"/>
          </a:p>
        </p:txBody>
      </p:sp>
      <p:sp>
        <p:nvSpPr>
          <p:cNvPr id="14" name="Shape 12"/>
          <p:cNvSpPr/>
          <p:nvPr/>
        </p:nvSpPr>
        <p:spPr>
          <a:xfrm>
            <a:off x="8046720" y="1325880"/>
            <a:ext cx="54864" cy="1325880"/>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8247888" y="1490472"/>
            <a:ext cx="3063240" cy="256032"/>
          </a:xfrm>
          <a:prstGeom prst="rect">
            <a:avLst/>
          </a:prstGeom>
          <a:noFill/>
          <a:ln/>
        </p:spPr>
        <p:txBody>
          <a:bodyPr wrap="square" rtlCol="0" anchor="ctr"/>
          <a:lstStyle/>
          <a:p>
            <a:r>
              <a:t>Environment challenge</a:t>
            </a:r>
          </a:p>
        </p:txBody>
      </p:sp>
      <p:sp>
        <p:nvSpPr>
          <p:cNvPr id="16" name="Text 14"/>
          <p:cNvSpPr/>
          <p:nvPr/>
        </p:nvSpPr>
        <p:spPr>
          <a:xfrm>
            <a:off x="8247888" y="1856232"/>
            <a:ext cx="3063240" cy="667512"/>
          </a:xfrm>
          <a:prstGeom prst="rect">
            <a:avLst/>
          </a:prstGeom>
          <a:noFill/>
          <a:ln/>
        </p:spPr>
        <p:txBody>
          <a:bodyPr wrap="square" rtlCol="0" anchor="t">
            <a:normAutofit fontScale="62500" lnSpcReduction="20000"/>
          </a:bodyPr>
          <a:lstStyle/>
          <a:p>
            <a:r>
              <a:t>We used requirements.txt and a local virtual environment. Because there was no containerized setup, clear installation steps were especially important.</a:t>
            </a:r>
          </a:p>
        </p:txBody>
      </p:sp>
      <p:sp>
        <p:nvSpPr>
          <p:cNvPr id="17" name="Text 15"/>
          <p:cNvSpPr/>
          <p:nvPr/>
        </p:nvSpPr>
        <p:spPr>
          <a:xfrm>
            <a:off x="822960" y="3246120"/>
            <a:ext cx="3200400" cy="274320"/>
          </a:xfrm>
          <a:prstGeom prst="rect">
            <a:avLst/>
          </a:prstGeom>
          <a:noFill/>
          <a:ln/>
        </p:spPr>
        <p:txBody>
          <a:bodyPr wrap="square" rtlCol="0" anchor="ctr"/>
          <a:lstStyle/>
          <a:p>
            <a:pPr marL="0" indent="0">
              <a:buNone/>
            </a:pPr>
            <a:r>
              <a:rPr lang="en-US" sz="1500" b="1" dirty="0">
                <a:solidFill>
                  <a:srgbClr val="F8FAFC"/>
                </a:solidFill>
              </a:rPr>
              <a:t>Team contribution summary</a:t>
            </a:r>
            <a:endParaRPr lang="en-US" sz="1500" dirty="0"/>
          </a:p>
        </p:txBody>
      </p:sp>
      <p:sp>
        <p:nvSpPr>
          <p:cNvPr id="18" name="Text 16"/>
          <p:cNvSpPr/>
          <p:nvPr/>
        </p:nvSpPr>
        <p:spPr>
          <a:xfrm>
            <a:off x="868680" y="3675888"/>
            <a:ext cx="228600" cy="201168"/>
          </a:xfrm>
          <a:prstGeom prst="rect">
            <a:avLst/>
          </a:prstGeom>
          <a:noFill/>
          <a:ln/>
        </p:spPr>
        <p:txBody>
          <a:bodyPr wrap="square" rtlCol="0" anchor="ctr"/>
          <a:lstStyle/>
          <a:p>
            <a:pPr marL="0" indent="0">
              <a:buNone/>
            </a:pPr>
            <a:r>
              <a:rPr lang="en-US" sz="1420" b="1" dirty="0">
                <a:solidFill>
                  <a:srgbClr val="38BDF8"/>
                </a:solidFill>
              </a:rPr>
              <a:t>•</a:t>
            </a:r>
            <a:endParaRPr lang="en-US" sz="1420" dirty="0"/>
          </a:p>
        </p:txBody>
      </p:sp>
      <p:sp>
        <p:nvSpPr>
          <p:cNvPr id="19" name="Text 17"/>
          <p:cNvSpPr/>
          <p:nvPr/>
        </p:nvSpPr>
        <p:spPr>
          <a:xfrm>
            <a:off x="1161288" y="3657600"/>
            <a:ext cx="10698480" cy="292608"/>
          </a:xfrm>
          <a:prstGeom prst="rect">
            <a:avLst/>
          </a:prstGeom>
          <a:noFill/>
          <a:ln/>
        </p:spPr>
        <p:txBody>
          <a:bodyPr wrap="square" rtlCol="0" anchor="ctr">
            <a:normAutofit lnSpcReduction="10000"/>
          </a:bodyPr>
          <a:lstStyle/>
          <a:p>
            <a:r>
              <a:rPr lang="en-US" sz="1220" dirty="0">
                <a:solidFill>
                  <a:srgbClr val="F8FAFC"/>
                </a:solidFill>
                <a:latin typeface="Aptos" pitchFamily="34" charset="0"/>
                <a:ea typeface="Aptos" pitchFamily="34" charset="-122"/>
                <a:cs typeface="Aptos" pitchFamily="34" charset="-120"/>
              </a:rPr>
              <a:t>Ahmet Hasanov: documentation and presentation support, </a:t>
            </a:r>
            <a:r>
              <a:rPr lang="en-US" sz="1400" dirty="0">
                <a:solidFill>
                  <a:schemeClr val="bg1"/>
                </a:solidFill>
              </a:rPr>
              <a:t>environment setup</a:t>
            </a:r>
            <a:endParaRPr lang="en-US" sz="1220" dirty="0"/>
          </a:p>
        </p:txBody>
      </p:sp>
      <p:sp>
        <p:nvSpPr>
          <p:cNvPr id="20" name="Text 18"/>
          <p:cNvSpPr/>
          <p:nvPr/>
        </p:nvSpPr>
        <p:spPr>
          <a:xfrm>
            <a:off x="868680" y="4005072"/>
            <a:ext cx="228600" cy="201168"/>
          </a:xfrm>
          <a:prstGeom prst="rect">
            <a:avLst/>
          </a:prstGeom>
          <a:noFill/>
          <a:ln/>
        </p:spPr>
        <p:txBody>
          <a:bodyPr wrap="square" rtlCol="0" anchor="ctr"/>
          <a:lstStyle/>
          <a:p>
            <a:pPr marL="0" indent="0">
              <a:buNone/>
            </a:pPr>
            <a:r>
              <a:rPr lang="en-US" sz="1420" b="1" dirty="0">
                <a:solidFill>
                  <a:srgbClr val="38BDF8"/>
                </a:solidFill>
              </a:rPr>
              <a:t>•</a:t>
            </a:r>
            <a:endParaRPr lang="en-US" sz="1420" dirty="0"/>
          </a:p>
        </p:txBody>
      </p:sp>
      <p:sp>
        <p:nvSpPr>
          <p:cNvPr id="21" name="Text 19"/>
          <p:cNvSpPr/>
          <p:nvPr/>
        </p:nvSpPr>
        <p:spPr>
          <a:xfrm>
            <a:off x="1161288" y="3986784"/>
            <a:ext cx="10698480" cy="292608"/>
          </a:xfrm>
          <a:prstGeom prst="rect">
            <a:avLst/>
          </a:prstGeom>
          <a:noFill/>
          <a:ln/>
        </p:spPr>
        <p:txBody>
          <a:bodyPr wrap="square" rtlCol="0" anchor="ctr">
            <a:normAutofit/>
          </a:bodyPr>
          <a:lstStyle/>
          <a:p>
            <a:pPr marL="0" indent="0">
              <a:buNone/>
            </a:pPr>
            <a:r>
              <a:rPr lang="en-US" sz="1220" dirty="0">
                <a:solidFill>
                  <a:srgbClr val="F8FAFC"/>
                </a:solidFill>
                <a:latin typeface="Aptos" pitchFamily="34" charset="0"/>
                <a:ea typeface="Aptos" pitchFamily="34" charset="-122"/>
                <a:cs typeface="Aptos" pitchFamily="34" charset="-120"/>
              </a:rPr>
              <a:t>Kuo Zhang: repository setup and project coordination</a:t>
            </a:r>
            <a:endParaRPr lang="en-US" sz="1220" dirty="0"/>
          </a:p>
        </p:txBody>
      </p:sp>
      <p:sp>
        <p:nvSpPr>
          <p:cNvPr id="22" name="Text 20"/>
          <p:cNvSpPr/>
          <p:nvPr/>
        </p:nvSpPr>
        <p:spPr>
          <a:xfrm>
            <a:off x="868680" y="4334256"/>
            <a:ext cx="228600" cy="201168"/>
          </a:xfrm>
          <a:prstGeom prst="rect">
            <a:avLst/>
          </a:prstGeom>
          <a:noFill/>
          <a:ln/>
        </p:spPr>
        <p:txBody>
          <a:bodyPr wrap="square" rtlCol="0" anchor="ctr"/>
          <a:lstStyle/>
          <a:p>
            <a:pPr marL="0" indent="0">
              <a:buNone/>
            </a:pPr>
            <a:r>
              <a:rPr lang="en-US" sz="1420" b="1" dirty="0">
                <a:solidFill>
                  <a:srgbClr val="38BDF8"/>
                </a:solidFill>
              </a:rPr>
              <a:t>•</a:t>
            </a:r>
            <a:endParaRPr lang="en-US" sz="1420" dirty="0"/>
          </a:p>
        </p:txBody>
      </p:sp>
      <p:sp>
        <p:nvSpPr>
          <p:cNvPr id="23" name="Text 21"/>
          <p:cNvSpPr/>
          <p:nvPr/>
        </p:nvSpPr>
        <p:spPr>
          <a:xfrm>
            <a:off x="1161288" y="4315968"/>
            <a:ext cx="10698480" cy="292608"/>
          </a:xfrm>
          <a:prstGeom prst="rect">
            <a:avLst/>
          </a:prstGeom>
          <a:noFill/>
          <a:ln/>
        </p:spPr>
        <p:txBody>
          <a:bodyPr wrap="square" rtlCol="0" anchor="ctr">
            <a:normAutofit lnSpcReduction="10000"/>
          </a:bodyPr>
          <a:lstStyle/>
          <a:p>
            <a:r>
              <a:rPr lang="en-US" sz="1220" dirty="0">
                <a:solidFill>
                  <a:srgbClr val="F8FAFC"/>
                </a:solidFill>
                <a:latin typeface="Aptos" pitchFamily="34" charset="0"/>
                <a:ea typeface="Aptos" pitchFamily="34" charset="-122"/>
                <a:cs typeface="Aptos" pitchFamily="34" charset="-120"/>
              </a:rPr>
              <a:t>Nijat Abiyev: dataset review, testing, and result checking, </a:t>
            </a:r>
            <a:r>
              <a:rPr lang="en-US" sz="1400" dirty="0">
                <a:solidFill>
                  <a:schemeClr val="bg1"/>
                </a:solidFill>
              </a:rPr>
              <a:t>ML models </a:t>
            </a:r>
            <a:endParaRPr lang="en-US" sz="1220" dirty="0"/>
          </a:p>
        </p:txBody>
      </p:sp>
      <p:sp>
        <p:nvSpPr>
          <p:cNvPr id="24" name="Text 22"/>
          <p:cNvSpPr/>
          <p:nvPr/>
        </p:nvSpPr>
        <p:spPr>
          <a:xfrm>
            <a:off x="868680" y="4663440"/>
            <a:ext cx="228600" cy="201168"/>
          </a:xfrm>
          <a:prstGeom prst="rect">
            <a:avLst/>
          </a:prstGeom>
          <a:noFill/>
          <a:ln/>
        </p:spPr>
        <p:txBody>
          <a:bodyPr wrap="square" rtlCol="0" anchor="ctr"/>
          <a:lstStyle/>
          <a:p>
            <a:pPr marL="0" indent="0">
              <a:buNone/>
            </a:pPr>
            <a:r>
              <a:rPr lang="en-US" sz="1420" b="1" dirty="0">
                <a:solidFill>
                  <a:srgbClr val="38BDF8"/>
                </a:solidFill>
              </a:rPr>
              <a:t>•</a:t>
            </a:r>
            <a:endParaRPr lang="en-US" sz="1420" dirty="0"/>
          </a:p>
        </p:txBody>
      </p:sp>
      <p:sp>
        <p:nvSpPr>
          <p:cNvPr id="25" name="Text 23"/>
          <p:cNvSpPr/>
          <p:nvPr/>
        </p:nvSpPr>
        <p:spPr>
          <a:xfrm>
            <a:off x="1161288" y="4645152"/>
            <a:ext cx="10698480" cy="292608"/>
          </a:xfrm>
          <a:prstGeom prst="rect">
            <a:avLst/>
          </a:prstGeom>
          <a:noFill/>
          <a:ln/>
        </p:spPr>
        <p:txBody>
          <a:bodyPr wrap="square" rtlCol="0" anchor="ctr">
            <a:normAutofit fontScale="85000" lnSpcReduction="20000"/>
          </a:bodyPr>
          <a:lstStyle/>
          <a:p>
            <a:r>
              <a:rPr dirty="0">
                <a:solidFill>
                  <a:schemeClr val="bg1"/>
                </a:solidFill>
              </a:rPr>
              <a:t>Yuceltan Ebiri: Python translation, modularization</a:t>
            </a:r>
          </a:p>
        </p:txBody>
      </p:sp>
      <p:sp>
        <p:nvSpPr>
          <p:cNvPr id="26" name="Text 24"/>
          <p:cNvSpPr/>
          <p:nvPr/>
        </p:nvSpPr>
        <p:spPr>
          <a:xfrm>
            <a:off x="914400" y="5715000"/>
            <a:ext cx="10424160" cy="475488"/>
          </a:xfrm>
          <a:prstGeom prst="rect">
            <a:avLst/>
          </a:prstGeom>
          <a:noFill/>
          <a:ln/>
        </p:spPr>
        <p:txBody>
          <a:bodyPr wrap="square" rtlCol="0" anchor="ctr"/>
          <a:lstStyle/>
          <a:p>
            <a:r>
              <a:rPr dirty="0">
                <a:solidFill>
                  <a:schemeClr val="bg1"/>
                </a:solidFill>
              </a:rPr>
              <a:t>Conclusion: the R workflow was successfully reproduced in Python and organized into a cleaner, documented, and runnable project.</a:t>
            </a:r>
          </a:p>
        </p:txBody>
      </p:sp>
      <p:sp>
        <p:nvSpPr>
          <p:cNvPr id="27" name="Slide Number Placeholder 0"/>
          <p:cNvSpPr>
            <a:spLocks noGrp="1"/>
          </p:cNvSpPr>
          <p:nvPr>
            <p:ph type="sldNum" sz="quarter" idx="4294967295"/>
          </p:nvPr>
        </p:nvSpPr>
        <p:spPr>
          <a:xfrm>
            <a:off x="11247120"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2625</Words>
  <Application>Microsoft Office PowerPoint</Application>
  <PresentationFormat>Widescreen</PresentationFormat>
  <Paragraphs>254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Course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Risk Analysis: Reproducing an R Project in Python</dc:title>
  <dc:subject>Reproducible Research Final Project</dc:subject>
  <dc:creator>RR Group Project</dc:creator>
  <cp:lastModifiedBy>Yuceltan Ebiri</cp:lastModifiedBy>
  <cp:revision>5</cp:revision>
  <dcterms:created xsi:type="dcterms:W3CDTF">2026-05-20T09:11:49Z</dcterms:created>
  <dcterms:modified xsi:type="dcterms:W3CDTF">2026-05-20T09:23:10Z</dcterms:modified>
</cp:coreProperties>
</file>